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112" d="100"/>
          <a:sy n="112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6/17/2026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8488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221264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3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10235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033811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794840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673810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79017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3261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8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275872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1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52294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7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68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379946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5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138314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9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53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1597818"/>
            <a:ext cx="7772400" cy="11025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49"/>
            <a:ext cx="6400800" cy="131444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72768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498964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6177548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910939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69485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3759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50341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44814324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77345116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189116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2845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47226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81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3.png"/><Relationship Id="rId3" Type="http://schemas.openxmlformats.org/officeDocument/2006/relationships/image" Target="../media/4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5.png"/><Relationship Id="rId2" Type="http://schemas.openxmlformats.org/officeDocument/2006/relationships/image" Target="../media/6.png"/><Relationship Id="rId3" Type="http://schemas.openxmlformats.org/officeDocument/2006/relationships/image" Target="../media/7.png"/><Relationship Id="rId4" Type="http://schemas.openxmlformats.org/officeDocument/2006/relationships/image" Target="../media/8.png"/><Relationship Id="rId5" Type="http://schemas.openxmlformats.org/officeDocument/2006/relationships/image" Target="../media/9.png"/><Relationship Id="rId6" Type="http://schemas.openxmlformats.org/officeDocument/2006/relationships/image" Target="../media/10.pn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/>
          </p:cNvSpPr>
          <p:nvPr/>
        </p:nvSpPr>
        <p:spPr>
          <a:xfrm rot="0">
            <a:off x="5943599" y="0"/>
            <a:ext cx="3200400" cy="5143500"/>
          </a:xfrm>
          <a:prstGeom prst="rect"/>
          <a:solidFill>
            <a:srgbClr val="C0392B">
              <a:alpha val="85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9" name="矩形"/>
          <p:cNvSpPr>
            <a:spLocks/>
          </p:cNvSpPr>
          <p:nvPr/>
        </p:nvSpPr>
        <p:spPr>
          <a:xfrm rot="0">
            <a:off x="0" y="0"/>
            <a:ext cx="5943599" cy="109728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0" name="椭圆"/>
          <p:cNvSpPr>
            <a:spLocks/>
          </p:cNvSpPr>
          <p:nvPr/>
        </p:nvSpPr>
        <p:spPr>
          <a:xfrm rot="0">
            <a:off x="457200" y="548640"/>
            <a:ext cx="1097280" cy="1097280"/>
          </a:xfrm>
          <a:prstGeom prst="ellipse"/>
          <a:solidFill>
            <a:srgbClr val="C0392B"/>
          </a:solidFill>
          <a:ln w="25400" cmpd="sng" cap="flat">
            <a:solidFill>
              <a:srgbClr val="F39C12"/>
            </a:solidFill>
            <a:prstDash val="solid"/>
            <a:round/>
          </a:ln>
        </p:spPr>
      </p:sp>
      <p:pic>
        <p:nvPicPr>
          <p:cNvPr id="11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58368" y="749808"/>
            <a:ext cx="685800" cy="6857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" name="矩形"/>
          <p:cNvSpPr>
            <a:spLocks/>
          </p:cNvSpPr>
          <p:nvPr/>
        </p:nvSpPr>
        <p:spPr>
          <a:xfrm rot="0">
            <a:off x="1828800" y="640080"/>
            <a:ext cx="3931919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PT MIE PEDAS RAYA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457200" y="1280160"/>
            <a:ext cx="5303520" cy="1828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PROGRAM MANAGEMENT</a:t>
            </a: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TRAINEE &amp; ONBOARDING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457200" y="3200400"/>
            <a:ext cx="530352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Strategi Pengembangan SDM untuk Mendukung Ekspansi Outlet 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圆角矩形"/>
          <p:cNvSpPr>
            <a:spLocks/>
          </p:cNvSpPr>
          <p:nvPr/>
        </p:nvSpPr>
        <p:spPr>
          <a:xfrm rot="0">
            <a:off x="6217920" y="457200"/>
            <a:ext cx="2651760" cy="3931920"/>
          </a:xfrm>
          <a:prstGeom prst="roundRect">
            <a:avLst>
              <a:gd name="adj" fmla="val 3449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6" name="矩形"/>
          <p:cNvSpPr>
            <a:spLocks/>
          </p:cNvSpPr>
          <p:nvPr/>
        </p:nvSpPr>
        <p:spPr>
          <a:xfrm rot="0">
            <a:off x="6400800" y="685800"/>
            <a:ext cx="2286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Disusun oleh: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6400800" y="960120"/>
            <a:ext cx="22860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Training &amp; Development Staff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6400800" y="1508759"/>
            <a:ext cx="2286000" cy="502919"/>
          </a:xfrm>
          <a:prstGeom prst="rect"/>
          <a:solidFill>
            <a:srgbClr val="C0392B">
              <a:alpha val="70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9" name="矩形"/>
          <p:cNvSpPr>
            <a:spLocks/>
          </p:cNvSpPr>
          <p:nvPr/>
        </p:nvSpPr>
        <p:spPr>
          <a:xfrm rot="0">
            <a:off x="6446520" y="1536192"/>
            <a:ext cx="8229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39C1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7269480" y="1600200"/>
            <a:ext cx="13716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Peserta MT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6400800" y="2148840"/>
            <a:ext cx="2286000" cy="502919"/>
          </a:xfrm>
          <a:prstGeom prst="rect"/>
          <a:solidFill>
            <a:srgbClr val="C0392B">
              <a:alpha val="70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2" name="矩形"/>
          <p:cNvSpPr>
            <a:spLocks/>
          </p:cNvSpPr>
          <p:nvPr/>
        </p:nvSpPr>
        <p:spPr>
          <a:xfrm rot="0">
            <a:off x="6446520" y="2176272"/>
            <a:ext cx="8229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39C1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12 Bln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7269480" y="224028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Durasi MT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6400800" y="2788920"/>
            <a:ext cx="2286000" cy="502920"/>
          </a:xfrm>
          <a:prstGeom prst="rect"/>
          <a:solidFill>
            <a:srgbClr val="C0392B">
              <a:alpha val="70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6446520" y="2816352"/>
            <a:ext cx="8229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39C1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 rot="0">
            <a:off x="7269480" y="288036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Outlet Baru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6400800" y="3429000"/>
            <a:ext cx="2286000" cy="502920"/>
          </a:xfrm>
          <a:prstGeom prst="rect"/>
          <a:solidFill>
            <a:srgbClr val="C0392B">
              <a:alpha val="70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8" name="矩形"/>
          <p:cNvSpPr>
            <a:spLocks/>
          </p:cNvSpPr>
          <p:nvPr/>
        </p:nvSpPr>
        <p:spPr>
          <a:xfrm rot="0">
            <a:off x="6446520" y="3456431"/>
            <a:ext cx="82295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39C1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 Bln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7269480" y="3520440"/>
            <a:ext cx="1371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Probation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457200" y="4663440"/>
            <a:ext cx="82296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55668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Dokumen Perencanaan Internal | 2025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43457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34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DAFTAR ISI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36" name="圆角矩形"/>
          <p:cNvSpPr>
            <a:spLocks/>
          </p:cNvSpPr>
          <p:nvPr/>
        </p:nvSpPr>
        <p:spPr>
          <a:xfrm rot="0">
            <a:off x="365760" y="1188720"/>
            <a:ext cx="4114800" cy="594360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7" name="圆角矩形"/>
          <p:cNvSpPr>
            <a:spLocks/>
          </p:cNvSpPr>
          <p:nvPr/>
        </p:nvSpPr>
        <p:spPr>
          <a:xfrm rot="0">
            <a:off x="411480" y="1280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8" name="矩形"/>
          <p:cNvSpPr>
            <a:spLocks/>
          </p:cNvSpPr>
          <p:nvPr/>
        </p:nvSpPr>
        <p:spPr>
          <a:xfrm rot="0">
            <a:off x="411480" y="1280160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914400" y="1298448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Latar Belakang &amp; Tujuan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圆角矩形"/>
          <p:cNvSpPr>
            <a:spLocks/>
          </p:cNvSpPr>
          <p:nvPr/>
        </p:nvSpPr>
        <p:spPr>
          <a:xfrm rot="0">
            <a:off x="365760" y="1938527"/>
            <a:ext cx="4114800" cy="594360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1" name="圆角矩形"/>
          <p:cNvSpPr>
            <a:spLocks/>
          </p:cNvSpPr>
          <p:nvPr/>
        </p:nvSpPr>
        <p:spPr>
          <a:xfrm rot="0">
            <a:off x="411480" y="202996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2" name="矩形"/>
          <p:cNvSpPr>
            <a:spLocks/>
          </p:cNvSpPr>
          <p:nvPr/>
        </p:nvSpPr>
        <p:spPr>
          <a:xfrm rot="0">
            <a:off x="411480" y="2029968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02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914400" y="2048255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Program Management Trainee (MT)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圆角矩形"/>
          <p:cNvSpPr>
            <a:spLocks/>
          </p:cNvSpPr>
          <p:nvPr/>
        </p:nvSpPr>
        <p:spPr>
          <a:xfrm rot="0">
            <a:off x="365760" y="2688336"/>
            <a:ext cx="4114800" cy="594359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5" name="圆角矩形"/>
          <p:cNvSpPr>
            <a:spLocks/>
          </p:cNvSpPr>
          <p:nvPr/>
        </p:nvSpPr>
        <p:spPr>
          <a:xfrm rot="0">
            <a:off x="411480" y="2779776"/>
            <a:ext cx="411480" cy="411479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46" name="矩形"/>
          <p:cNvSpPr>
            <a:spLocks/>
          </p:cNvSpPr>
          <p:nvPr/>
        </p:nvSpPr>
        <p:spPr>
          <a:xfrm rot="0">
            <a:off x="411480" y="2779776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03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914400" y="2798064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Kurikulum &amp; Silabus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圆角矩形"/>
          <p:cNvSpPr>
            <a:spLocks/>
          </p:cNvSpPr>
          <p:nvPr/>
        </p:nvSpPr>
        <p:spPr>
          <a:xfrm rot="0">
            <a:off x="365760" y="3438144"/>
            <a:ext cx="4114800" cy="594359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9" name="圆角矩形"/>
          <p:cNvSpPr>
            <a:spLocks/>
          </p:cNvSpPr>
          <p:nvPr/>
        </p:nvSpPr>
        <p:spPr>
          <a:xfrm rot="0">
            <a:off x="411480" y="3529583"/>
            <a:ext cx="411480" cy="411479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50" name="矩形"/>
          <p:cNvSpPr>
            <a:spLocks/>
          </p:cNvSpPr>
          <p:nvPr/>
        </p:nvSpPr>
        <p:spPr>
          <a:xfrm rot="0">
            <a:off x="411480" y="3529583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04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914400" y="3547872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Alur Program MT (Flow)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圆角矩形"/>
          <p:cNvSpPr>
            <a:spLocks/>
          </p:cNvSpPr>
          <p:nvPr/>
        </p:nvSpPr>
        <p:spPr>
          <a:xfrm rot="0">
            <a:off x="365760" y="4187952"/>
            <a:ext cx="4114800" cy="594359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53" name="圆角矩形"/>
          <p:cNvSpPr>
            <a:spLocks/>
          </p:cNvSpPr>
          <p:nvPr/>
        </p:nvSpPr>
        <p:spPr>
          <a:xfrm rot="0">
            <a:off x="411480" y="4279392"/>
            <a:ext cx="411480" cy="411479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4" name="矩形"/>
          <p:cNvSpPr>
            <a:spLocks/>
          </p:cNvSpPr>
          <p:nvPr/>
        </p:nvSpPr>
        <p:spPr>
          <a:xfrm rot="0">
            <a:off x="411480" y="4279392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05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914400" y="4297680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Timeline &amp; Gantt Chart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圆角矩形"/>
          <p:cNvSpPr>
            <a:spLocks/>
          </p:cNvSpPr>
          <p:nvPr/>
        </p:nvSpPr>
        <p:spPr>
          <a:xfrm rot="0">
            <a:off x="4754880" y="1188720"/>
            <a:ext cx="4114800" cy="594360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57" name="圆角矩形"/>
          <p:cNvSpPr>
            <a:spLocks/>
          </p:cNvSpPr>
          <p:nvPr/>
        </p:nvSpPr>
        <p:spPr>
          <a:xfrm rot="0">
            <a:off x="4800600" y="128016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58" name="矩形"/>
          <p:cNvSpPr>
            <a:spLocks/>
          </p:cNvSpPr>
          <p:nvPr/>
        </p:nvSpPr>
        <p:spPr>
          <a:xfrm rot="0">
            <a:off x="4800600" y="1280160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06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5303520" y="1298448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Penilaian &amp; Klasifikasi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" name="圆角矩形"/>
          <p:cNvSpPr>
            <a:spLocks/>
          </p:cNvSpPr>
          <p:nvPr/>
        </p:nvSpPr>
        <p:spPr>
          <a:xfrm rot="0">
            <a:off x="4754880" y="1938527"/>
            <a:ext cx="4114800" cy="594360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61" name="圆角矩形"/>
          <p:cNvSpPr>
            <a:spLocks/>
          </p:cNvSpPr>
          <p:nvPr/>
        </p:nvSpPr>
        <p:spPr>
          <a:xfrm rot="0">
            <a:off x="4800600" y="202996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62" name="矩形"/>
          <p:cNvSpPr>
            <a:spLocks/>
          </p:cNvSpPr>
          <p:nvPr/>
        </p:nvSpPr>
        <p:spPr>
          <a:xfrm rot="0">
            <a:off x="4800600" y="2029968"/>
            <a:ext cx="411480" cy="4114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07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5303520" y="2048255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Budget Program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圆角矩形"/>
          <p:cNvSpPr>
            <a:spLocks/>
          </p:cNvSpPr>
          <p:nvPr/>
        </p:nvSpPr>
        <p:spPr>
          <a:xfrm rot="0">
            <a:off x="4754880" y="2688336"/>
            <a:ext cx="4114800" cy="594359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65" name="圆角矩形"/>
          <p:cNvSpPr>
            <a:spLocks/>
          </p:cNvSpPr>
          <p:nvPr/>
        </p:nvSpPr>
        <p:spPr>
          <a:xfrm rot="0">
            <a:off x="4800600" y="2779776"/>
            <a:ext cx="411480" cy="411479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66" name="矩形"/>
          <p:cNvSpPr>
            <a:spLocks/>
          </p:cNvSpPr>
          <p:nvPr/>
        </p:nvSpPr>
        <p:spPr>
          <a:xfrm rot="0">
            <a:off x="4800600" y="2779776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08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5303520" y="2798064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Program Onboarding Crew &amp; Staff HO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圆角矩形"/>
          <p:cNvSpPr>
            <a:spLocks/>
          </p:cNvSpPr>
          <p:nvPr/>
        </p:nvSpPr>
        <p:spPr>
          <a:xfrm rot="0">
            <a:off x="4754880" y="3438144"/>
            <a:ext cx="4114800" cy="594359"/>
          </a:xfrm>
          <a:prstGeom prst="roundRect">
            <a:avLst>
              <a:gd name="adj" fmla="val 12310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69" name="圆角矩形"/>
          <p:cNvSpPr>
            <a:spLocks/>
          </p:cNvSpPr>
          <p:nvPr/>
        </p:nvSpPr>
        <p:spPr>
          <a:xfrm rot="0">
            <a:off x="4800600" y="3529583"/>
            <a:ext cx="411480" cy="411479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70" name="矩形"/>
          <p:cNvSpPr>
            <a:spLocks/>
          </p:cNvSpPr>
          <p:nvPr/>
        </p:nvSpPr>
        <p:spPr>
          <a:xfrm rot="0">
            <a:off x="4800600" y="3529583"/>
            <a:ext cx="4114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09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5303520" y="3547872"/>
            <a:ext cx="347472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Timeline &amp; Budget Onboarding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32560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75" name="矩形"/>
          <p:cNvSpPr>
            <a:spLocks/>
          </p:cNvSpPr>
          <p:nvPr/>
        </p:nvSpPr>
        <p:spPr>
          <a:xfrm rot="0">
            <a:off x="457200" y="201168"/>
            <a:ext cx="77724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LATAR BELAKANG &amp; TUJUAN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77" name="圆角矩形"/>
          <p:cNvSpPr>
            <a:spLocks/>
          </p:cNvSpPr>
          <p:nvPr/>
        </p:nvSpPr>
        <p:spPr>
          <a:xfrm rot="0">
            <a:off x="365760" y="1143000"/>
            <a:ext cx="4114800" cy="3474720"/>
          </a:xfrm>
          <a:prstGeom prst="roundRect">
            <a:avLst>
              <a:gd name="adj" fmla="val 3157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78" name="矩形"/>
          <p:cNvSpPr>
            <a:spLocks/>
          </p:cNvSpPr>
          <p:nvPr/>
        </p:nvSpPr>
        <p:spPr>
          <a:xfrm rot="0">
            <a:off x="548640" y="1280160"/>
            <a:ext cx="374903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🎯 KONTEKS BISNIS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548640" y="1691639"/>
            <a:ext cx="374903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PT Mie Pedas Raya berencana membuka </a:t>
            </a: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outlet baru</a:t>
            </a: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 di Bogor &amp; Jakarta Selatan dalam 2 tahun ke depan.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Program ini dirancang untuk: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矩形"/>
          <p:cNvSpPr>
            <a:spLocks/>
          </p:cNvSpPr>
          <p:nvPr/>
        </p:nvSpPr>
        <p:spPr>
          <a:xfrm rot="0">
            <a:off x="594360" y="2651760"/>
            <a:ext cx="3749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▶  Membentuk talent internal siap pimpin (Program MT)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594360" y="3127248"/>
            <a:ext cx="3749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▶  Standarisasi onboarding karyawan baru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 rot="0">
            <a:off x="594360" y="3602736"/>
            <a:ext cx="3749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▶  Meningkatkan retensi karyawan berkualitas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594360" y="4078224"/>
            <a:ext cx="374904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▶  Menjamin kualitas operasional outlet ekspansi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圆角矩形"/>
          <p:cNvSpPr>
            <a:spLocks/>
          </p:cNvSpPr>
          <p:nvPr/>
        </p:nvSpPr>
        <p:spPr>
          <a:xfrm rot="0">
            <a:off x="4846320" y="1143000"/>
            <a:ext cx="3931920" cy="1005839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85" name="椭圆"/>
          <p:cNvSpPr>
            <a:spLocks/>
          </p:cNvSpPr>
          <p:nvPr/>
        </p:nvSpPr>
        <p:spPr>
          <a:xfrm rot="0">
            <a:off x="4983480" y="1307592"/>
            <a:ext cx="640080" cy="640080"/>
          </a:xfrm>
          <a:prstGeom prst="ellipse"/>
          <a:solidFill>
            <a:srgbClr val="C0392B">
              <a:alpha val="15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pic>
        <p:nvPicPr>
          <p:cNvPr id="86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047488" y="1371600"/>
            <a:ext cx="512063" cy="51206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7" name="矩形"/>
          <p:cNvSpPr>
            <a:spLocks/>
          </p:cNvSpPr>
          <p:nvPr/>
        </p:nvSpPr>
        <p:spPr>
          <a:xfrm rot="0">
            <a:off x="5760720" y="1252728"/>
            <a:ext cx="283463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SDM Terlatih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5760720" y="1581911"/>
            <a:ext cx="283463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Calon leader yang kompeten di bidang operasional, keuangan &amp; leadership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圆角矩形"/>
          <p:cNvSpPr>
            <a:spLocks/>
          </p:cNvSpPr>
          <p:nvPr/>
        </p:nvSpPr>
        <p:spPr>
          <a:xfrm rot="0">
            <a:off x="4846320" y="2331720"/>
            <a:ext cx="3931920" cy="1005839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90" name="椭圆"/>
          <p:cNvSpPr>
            <a:spLocks/>
          </p:cNvSpPr>
          <p:nvPr/>
        </p:nvSpPr>
        <p:spPr>
          <a:xfrm rot="0">
            <a:off x="4983480" y="2496311"/>
            <a:ext cx="640080" cy="640079"/>
          </a:xfrm>
          <a:prstGeom prst="ellipse"/>
          <a:solidFill>
            <a:srgbClr val="C0392B">
              <a:alpha val="15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pic>
        <p:nvPicPr>
          <p:cNvPr id="91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047488" y="2560320"/>
            <a:ext cx="512063" cy="51206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2" name="矩形"/>
          <p:cNvSpPr>
            <a:spLocks/>
          </p:cNvSpPr>
          <p:nvPr/>
        </p:nvSpPr>
        <p:spPr>
          <a:xfrm rot="0">
            <a:off x="5760720" y="2441447"/>
            <a:ext cx="28346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Tim Solid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 rot="0">
            <a:off x="5760720" y="2770632"/>
            <a:ext cx="283463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Karyawan baru yang memahami budaya &amp; SOP perusahaan sejak hari pertama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4" name="圆角矩形"/>
          <p:cNvSpPr>
            <a:spLocks/>
          </p:cNvSpPr>
          <p:nvPr/>
        </p:nvSpPr>
        <p:spPr>
          <a:xfrm rot="0">
            <a:off x="4846320" y="3520440"/>
            <a:ext cx="3931920" cy="1005839"/>
          </a:xfrm>
          <a:prstGeom prst="roundRect">
            <a:avLst>
              <a:gd name="adj" fmla="val 9092"/>
            </a:avLst>
          </a:prstGeom>
          <a:solidFill>
            <a:srgbClr val="FFFFFF"/>
          </a:solidFill>
          <a:ln w="1270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95" name="椭圆"/>
          <p:cNvSpPr>
            <a:spLocks/>
          </p:cNvSpPr>
          <p:nvPr/>
        </p:nvSpPr>
        <p:spPr>
          <a:xfrm rot="0">
            <a:off x="4983480" y="3685032"/>
            <a:ext cx="640080" cy="640079"/>
          </a:xfrm>
          <a:prstGeom prst="ellipse"/>
          <a:solidFill>
            <a:srgbClr val="C0392B">
              <a:alpha val="15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pic>
        <p:nvPicPr>
          <p:cNvPr id="96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5047488" y="3749040"/>
            <a:ext cx="512063" cy="51206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7" name="矩形"/>
          <p:cNvSpPr>
            <a:spLocks/>
          </p:cNvSpPr>
          <p:nvPr/>
        </p:nvSpPr>
        <p:spPr>
          <a:xfrm rot="0">
            <a:off x="5760720" y="3630167"/>
            <a:ext cx="28346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Ekspansi Sukses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5760720" y="3959352"/>
            <a:ext cx="283463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Outlet baru terbentuk dengan SDM yang sudah siap dari dalam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826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02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PROGRAM MANAGEMENT TRAINEE (MT)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04" name="圆角矩形"/>
          <p:cNvSpPr>
            <a:spLocks/>
          </p:cNvSpPr>
          <p:nvPr/>
        </p:nvSpPr>
        <p:spPr>
          <a:xfrm rot="0">
            <a:off x="365760" y="1097280"/>
            <a:ext cx="8412480" cy="685800"/>
          </a:xfrm>
          <a:prstGeom prst="roundRect">
            <a:avLst>
              <a:gd name="adj" fmla="val 10666"/>
            </a:avLst>
          </a:prstGeom>
          <a:solidFill>
            <a:srgbClr val="1A1A2E">
              <a:alpha val="8000"/>
            </a:srgbClr>
          </a:solidFill>
          <a:ln w="12700" cmpd="sng" cap="flat">
            <a:solidFill>
              <a:srgbClr val="1A1A2E">
                <a:alpha val="30000"/>
              </a:srgbClr>
            </a:solidFill>
            <a:prstDash val="solid"/>
            <a:round/>
          </a:ln>
        </p:spPr>
      </p:sp>
      <p:sp>
        <p:nvSpPr>
          <p:cNvPr id="105" name="矩形"/>
          <p:cNvSpPr>
            <a:spLocks/>
          </p:cNvSpPr>
          <p:nvPr/>
        </p:nvSpPr>
        <p:spPr>
          <a:xfrm rot="0">
            <a:off x="548640" y="1170432"/>
            <a:ext cx="804671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Program pengembangan talent internal selama 12 bulan untuk membentuk calon pemimpin outlet yang menguasai operasional, keuangan, dan kepemimpinan — guna mendukung ekspansi ke Bogor &amp; Jakarta Selatan.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 rot="0">
            <a:off x="365760" y="1920240"/>
            <a:ext cx="45720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KEBUTUHAN PESERTA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07" name="Lembar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365760" y="2286000"/>
          <a:ext cx="5029200" cy="219456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103116"/>
                <a:gridCol w="1828791"/>
                <a:gridCol w="1097272"/>
              </a:tblGrid>
              <a:tr h="5092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Posisi Target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Track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Headcount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92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Supervisor Outlet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Operasional (12 bln)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2 orang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092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Asisten Supervisor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Operasional (12 bln)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2 orang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0926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Manager Outlet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Operasional + P&amp;L (12 bln)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1 orang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15612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TOTAL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392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1A1A2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5 Peserta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91440" marT="45720" marR="91440" marB="45720" vert="horz">
                    <a:lnL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392B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8" name="矩形"/>
          <p:cNvSpPr>
            <a:spLocks/>
          </p:cNvSpPr>
          <p:nvPr/>
        </p:nvSpPr>
        <p:spPr>
          <a:xfrm rot="0">
            <a:off x="5760720" y="1920240"/>
            <a:ext cx="301751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 TUJUAN UTAMA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椭圆"/>
          <p:cNvSpPr>
            <a:spLocks/>
          </p:cNvSpPr>
          <p:nvPr/>
        </p:nvSpPr>
        <p:spPr>
          <a:xfrm rot="0">
            <a:off x="5760720" y="2286000"/>
            <a:ext cx="457200" cy="457200"/>
          </a:xfrm>
          <a:prstGeom prst="ellipse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5760720" y="228600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6309360" y="2304288"/>
            <a:ext cx="24688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Memastikan kesiapan SDM untuk posisi Asst. SPV, SPV, dan Manager Outlet baru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2" name="椭圆"/>
          <p:cNvSpPr>
            <a:spLocks/>
          </p:cNvSpPr>
          <p:nvPr/>
        </p:nvSpPr>
        <p:spPr>
          <a:xfrm rot="0">
            <a:off x="5760720" y="3017519"/>
            <a:ext cx="457200" cy="457200"/>
          </a:xfrm>
          <a:prstGeom prst="ellipse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13" name="矩形"/>
          <p:cNvSpPr>
            <a:spLocks/>
          </p:cNvSpPr>
          <p:nvPr/>
        </p:nvSpPr>
        <p:spPr>
          <a:xfrm rot="0">
            <a:off x="5760720" y="3017519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4" name="矩形"/>
          <p:cNvSpPr>
            <a:spLocks/>
          </p:cNvSpPr>
          <p:nvPr/>
        </p:nvSpPr>
        <p:spPr>
          <a:xfrm rot="0">
            <a:off x="6309360" y="3035808"/>
            <a:ext cx="24688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Menstandarkan kompetensi teknis &amp; soft skill operasional outlet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5" name="椭圆"/>
          <p:cNvSpPr>
            <a:spLocks/>
          </p:cNvSpPr>
          <p:nvPr/>
        </p:nvSpPr>
        <p:spPr>
          <a:xfrm rot="0">
            <a:off x="5760720" y="3749040"/>
            <a:ext cx="457200" cy="457200"/>
          </a:xfrm>
          <a:prstGeom prst="ellipse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16" name="矩形"/>
          <p:cNvSpPr>
            <a:spLocks/>
          </p:cNvSpPr>
          <p:nvPr/>
        </p:nvSpPr>
        <p:spPr>
          <a:xfrm rot="0">
            <a:off x="5760720" y="37490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6309360" y="3767328"/>
            <a:ext cx="246887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Meningkatkan retensi karyawan melalui jenjang karir yang jelas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391326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121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OUTLINE KURIKULUM MT — TRACK OPERASIONAL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23" name="圆角矩形"/>
          <p:cNvSpPr>
            <a:spLocks/>
          </p:cNvSpPr>
          <p:nvPr/>
        </p:nvSpPr>
        <p:spPr>
          <a:xfrm rot="0">
            <a:off x="274320" y="109728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24" name="圆角矩形"/>
          <p:cNvSpPr>
            <a:spLocks/>
          </p:cNvSpPr>
          <p:nvPr/>
        </p:nvSpPr>
        <p:spPr>
          <a:xfrm rot="0">
            <a:off x="347472" y="120700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125" name="矩形"/>
          <p:cNvSpPr>
            <a:spLocks/>
          </p:cNvSpPr>
          <p:nvPr/>
        </p:nvSpPr>
        <p:spPr>
          <a:xfrm rot="0">
            <a:off x="347472" y="120700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1188720" y="1161288"/>
            <a:ext cx="315468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3498D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Onboarding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1188720" y="1371600"/>
            <a:ext cx="315468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Orientasi Karyawan Baru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圆角矩形"/>
          <p:cNvSpPr>
            <a:spLocks/>
          </p:cNvSpPr>
          <p:nvPr/>
        </p:nvSpPr>
        <p:spPr>
          <a:xfrm rot="0">
            <a:off x="274320" y="1874520"/>
            <a:ext cx="4160520" cy="658367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29" name="圆角矩形"/>
          <p:cNvSpPr>
            <a:spLocks/>
          </p:cNvSpPr>
          <p:nvPr/>
        </p:nvSpPr>
        <p:spPr>
          <a:xfrm rot="0">
            <a:off x="347472" y="198424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347472" y="198424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1188720" y="1938527"/>
            <a:ext cx="315468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9B59B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Product Know.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2" name="矩形"/>
          <p:cNvSpPr>
            <a:spLocks/>
          </p:cNvSpPr>
          <p:nvPr/>
        </p:nvSpPr>
        <p:spPr>
          <a:xfrm rot="0">
            <a:off x="1188720" y="2148840"/>
            <a:ext cx="315468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Pengenalan Produk &amp; Menu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圆角矩形"/>
          <p:cNvSpPr>
            <a:spLocks/>
          </p:cNvSpPr>
          <p:nvPr/>
        </p:nvSpPr>
        <p:spPr>
          <a:xfrm rot="0">
            <a:off x="274320" y="265176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34" name="圆角矩形"/>
          <p:cNvSpPr>
            <a:spLocks/>
          </p:cNvSpPr>
          <p:nvPr/>
        </p:nvSpPr>
        <p:spPr>
          <a:xfrm rot="0">
            <a:off x="347472" y="276148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35" name="矩形"/>
          <p:cNvSpPr>
            <a:spLocks/>
          </p:cNvSpPr>
          <p:nvPr/>
        </p:nvSpPr>
        <p:spPr>
          <a:xfrm rot="0">
            <a:off x="347472" y="276148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6" name="矩形"/>
          <p:cNvSpPr>
            <a:spLocks/>
          </p:cNvSpPr>
          <p:nvPr/>
        </p:nvSpPr>
        <p:spPr>
          <a:xfrm rot="0">
            <a:off x="1188720" y="2715768"/>
            <a:ext cx="315468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矩形"/>
          <p:cNvSpPr>
            <a:spLocks/>
          </p:cNvSpPr>
          <p:nvPr/>
        </p:nvSpPr>
        <p:spPr>
          <a:xfrm rot="0">
            <a:off x="1188720" y="2926080"/>
            <a:ext cx="31546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Basic Operation (Kasir, Kitchen, SOP)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圆角矩形"/>
          <p:cNvSpPr>
            <a:spLocks/>
          </p:cNvSpPr>
          <p:nvPr/>
        </p:nvSpPr>
        <p:spPr>
          <a:xfrm rot="0">
            <a:off x="274320" y="342900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39" name="圆角矩形"/>
          <p:cNvSpPr>
            <a:spLocks/>
          </p:cNvSpPr>
          <p:nvPr/>
        </p:nvSpPr>
        <p:spPr>
          <a:xfrm rot="0">
            <a:off x="347472" y="353872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140" name="矩形"/>
          <p:cNvSpPr>
            <a:spLocks/>
          </p:cNvSpPr>
          <p:nvPr/>
        </p:nvSpPr>
        <p:spPr>
          <a:xfrm rot="0">
            <a:off x="347472" y="353872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1188720" y="3493008"/>
            <a:ext cx="315468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2" name="矩形"/>
          <p:cNvSpPr>
            <a:spLocks/>
          </p:cNvSpPr>
          <p:nvPr/>
        </p:nvSpPr>
        <p:spPr>
          <a:xfrm rot="0">
            <a:off x="1188720" y="3703319"/>
            <a:ext cx="31546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Financial Management (Cash, COGS, Budget)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3" name="圆角矩形"/>
          <p:cNvSpPr>
            <a:spLocks/>
          </p:cNvSpPr>
          <p:nvPr/>
        </p:nvSpPr>
        <p:spPr>
          <a:xfrm rot="0">
            <a:off x="274320" y="420624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44" name="圆角矩形"/>
          <p:cNvSpPr>
            <a:spLocks/>
          </p:cNvSpPr>
          <p:nvPr/>
        </p:nvSpPr>
        <p:spPr>
          <a:xfrm rot="0">
            <a:off x="347472" y="4315968"/>
            <a:ext cx="731519" cy="438911"/>
          </a:xfrm>
          <a:prstGeom prst="roundRect">
            <a:avLst>
              <a:gd name="adj" fmla="val 10416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</p:spPr>
      </p:sp>
      <p:sp>
        <p:nvSpPr>
          <p:cNvPr id="145" name="矩形"/>
          <p:cNvSpPr>
            <a:spLocks/>
          </p:cNvSpPr>
          <p:nvPr/>
        </p:nvSpPr>
        <p:spPr>
          <a:xfrm rot="0">
            <a:off x="347472" y="4315968"/>
            <a:ext cx="731519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矩形"/>
          <p:cNvSpPr>
            <a:spLocks/>
          </p:cNvSpPr>
          <p:nvPr/>
        </p:nvSpPr>
        <p:spPr>
          <a:xfrm rot="0">
            <a:off x="1188720" y="4270248"/>
            <a:ext cx="315468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16A0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Soft Skill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7" name="矩形"/>
          <p:cNvSpPr>
            <a:spLocks/>
          </p:cNvSpPr>
          <p:nvPr/>
        </p:nvSpPr>
        <p:spPr>
          <a:xfrm rot="0">
            <a:off x="1188720" y="4480560"/>
            <a:ext cx="31546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Leadership &amp; Delegasi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圆角矩形"/>
          <p:cNvSpPr>
            <a:spLocks/>
          </p:cNvSpPr>
          <p:nvPr/>
        </p:nvSpPr>
        <p:spPr>
          <a:xfrm rot="0">
            <a:off x="4709160" y="109728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49" name="圆角矩形"/>
          <p:cNvSpPr>
            <a:spLocks/>
          </p:cNvSpPr>
          <p:nvPr/>
        </p:nvSpPr>
        <p:spPr>
          <a:xfrm rot="0">
            <a:off x="4782312" y="120700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</p:spPr>
      </p:sp>
      <p:sp>
        <p:nvSpPr>
          <p:cNvPr id="150" name="矩形"/>
          <p:cNvSpPr>
            <a:spLocks/>
          </p:cNvSpPr>
          <p:nvPr/>
        </p:nvSpPr>
        <p:spPr>
          <a:xfrm rot="0">
            <a:off x="4782312" y="120700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矩形"/>
          <p:cNvSpPr>
            <a:spLocks/>
          </p:cNvSpPr>
          <p:nvPr/>
        </p:nvSpPr>
        <p:spPr>
          <a:xfrm rot="0">
            <a:off x="5623560" y="1161288"/>
            <a:ext cx="3154679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16A0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Soft Skill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矩形"/>
          <p:cNvSpPr>
            <a:spLocks/>
          </p:cNvSpPr>
          <p:nvPr/>
        </p:nvSpPr>
        <p:spPr>
          <a:xfrm rot="0">
            <a:off x="5623560" y="1371600"/>
            <a:ext cx="315467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Communication &amp; Service Excellence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3" name="圆角矩形"/>
          <p:cNvSpPr>
            <a:spLocks/>
          </p:cNvSpPr>
          <p:nvPr/>
        </p:nvSpPr>
        <p:spPr>
          <a:xfrm rot="0">
            <a:off x="4709160" y="1874520"/>
            <a:ext cx="4160520" cy="658367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54" name="圆角矩形"/>
          <p:cNvSpPr>
            <a:spLocks/>
          </p:cNvSpPr>
          <p:nvPr/>
        </p:nvSpPr>
        <p:spPr>
          <a:xfrm rot="0">
            <a:off x="4782312" y="198424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</p:spPr>
      </p:sp>
      <p:sp>
        <p:nvSpPr>
          <p:cNvPr id="155" name="矩形"/>
          <p:cNvSpPr>
            <a:spLocks/>
          </p:cNvSpPr>
          <p:nvPr/>
        </p:nvSpPr>
        <p:spPr>
          <a:xfrm rot="0">
            <a:off x="4782312" y="198424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矩形"/>
          <p:cNvSpPr>
            <a:spLocks/>
          </p:cNvSpPr>
          <p:nvPr/>
        </p:nvSpPr>
        <p:spPr>
          <a:xfrm rot="0">
            <a:off x="5623560" y="1938527"/>
            <a:ext cx="3154679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16A0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Soft Skill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7" name="矩形"/>
          <p:cNvSpPr>
            <a:spLocks/>
          </p:cNvSpPr>
          <p:nvPr/>
        </p:nvSpPr>
        <p:spPr>
          <a:xfrm rot="0">
            <a:off x="5623560" y="2148840"/>
            <a:ext cx="315467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Problem Solving &amp; Decision Making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8" name="圆角矩形"/>
          <p:cNvSpPr>
            <a:spLocks/>
          </p:cNvSpPr>
          <p:nvPr/>
        </p:nvSpPr>
        <p:spPr>
          <a:xfrm rot="0">
            <a:off x="4709160" y="265176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59" name="圆角矩形"/>
          <p:cNvSpPr>
            <a:spLocks/>
          </p:cNvSpPr>
          <p:nvPr/>
        </p:nvSpPr>
        <p:spPr>
          <a:xfrm rot="0">
            <a:off x="4782312" y="276148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160" name="矩形"/>
          <p:cNvSpPr>
            <a:spLocks/>
          </p:cNvSpPr>
          <p:nvPr/>
        </p:nvSpPr>
        <p:spPr>
          <a:xfrm rot="0">
            <a:off x="4782312" y="276148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1" name="矩形"/>
          <p:cNvSpPr>
            <a:spLocks/>
          </p:cNvSpPr>
          <p:nvPr/>
        </p:nvSpPr>
        <p:spPr>
          <a:xfrm rot="0">
            <a:off x="5623560" y="2715768"/>
            <a:ext cx="315467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E67E2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2" name="矩形"/>
          <p:cNvSpPr>
            <a:spLocks/>
          </p:cNvSpPr>
          <p:nvPr/>
        </p:nvSpPr>
        <p:spPr>
          <a:xfrm rot="0">
            <a:off x="5623560" y="2926080"/>
            <a:ext cx="31546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Cashier &amp; Kitchen Simulation (Outlet)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3" name="圆角矩形"/>
          <p:cNvSpPr>
            <a:spLocks/>
          </p:cNvSpPr>
          <p:nvPr/>
        </p:nvSpPr>
        <p:spPr>
          <a:xfrm rot="0">
            <a:off x="4709160" y="342900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64" name="圆角矩形"/>
          <p:cNvSpPr>
            <a:spLocks/>
          </p:cNvSpPr>
          <p:nvPr/>
        </p:nvSpPr>
        <p:spPr>
          <a:xfrm rot="0">
            <a:off x="4782312" y="3538728"/>
            <a:ext cx="731519" cy="438912"/>
          </a:xfrm>
          <a:prstGeom prst="roundRect">
            <a:avLst>
              <a:gd name="adj" fmla="val 10416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165" name="矩形"/>
          <p:cNvSpPr>
            <a:spLocks/>
          </p:cNvSpPr>
          <p:nvPr/>
        </p:nvSpPr>
        <p:spPr>
          <a:xfrm rot="0">
            <a:off x="4782312" y="3538728"/>
            <a:ext cx="7315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矩形"/>
          <p:cNvSpPr>
            <a:spLocks/>
          </p:cNvSpPr>
          <p:nvPr/>
        </p:nvSpPr>
        <p:spPr>
          <a:xfrm rot="0">
            <a:off x="5623560" y="3493008"/>
            <a:ext cx="315467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E67E2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Soft Skill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5623560" y="3703319"/>
            <a:ext cx="31546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Leadership &amp; Financial Practice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圆角矩形"/>
          <p:cNvSpPr>
            <a:spLocks/>
          </p:cNvSpPr>
          <p:nvPr/>
        </p:nvSpPr>
        <p:spPr>
          <a:xfrm rot="0">
            <a:off x="4709160" y="420624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69" name="圆角矩形"/>
          <p:cNvSpPr>
            <a:spLocks/>
          </p:cNvSpPr>
          <p:nvPr/>
        </p:nvSpPr>
        <p:spPr>
          <a:xfrm rot="0">
            <a:off x="4782312" y="4315968"/>
            <a:ext cx="731519" cy="438911"/>
          </a:xfrm>
          <a:prstGeom prst="roundRect">
            <a:avLst>
              <a:gd name="adj" fmla="val 10416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170" name="矩形"/>
          <p:cNvSpPr>
            <a:spLocks/>
          </p:cNvSpPr>
          <p:nvPr/>
        </p:nvSpPr>
        <p:spPr>
          <a:xfrm rot="0">
            <a:off x="4782312" y="4315968"/>
            <a:ext cx="731519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矩形"/>
          <p:cNvSpPr>
            <a:spLocks/>
          </p:cNvSpPr>
          <p:nvPr/>
        </p:nvSpPr>
        <p:spPr>
          <a:xfrm rot="0">
            <a:off x="5623560" y="4270248"/>
            <a:ext cx="315467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Penilaian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2" name="矩形"/>
          <p:cNvSpPr>
            <a:spLocks/>
          </p:cNvSpPr>
          <p:nvPr/>
        </p:nvSpPr>
        <p:spPr>
          <a:xfrm rot="0">
            <a:off x="5623560" y="4480560"/>
            <a:ext cx="31546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Presentasi Final Project &amp; Final Exam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35670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"/>
          <p:cNvSpPr>
            <a:spLocks/>
          </p:cNvSpPr>
          <p:nvPr/>
        </p:nvSpPr>
        <p:spPr>
          <a:xfrm rot="0">
            <a:off x="457200" y="201168"/>
            <a:ext cx="822960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ALUR PROGRAM MT — PT MIE PEDAS RAYA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矩形"/>
          <p:cNvSpPr>
            <a:spLocks/>
          </p:cNvSpPr>
          <p:nvPr/>
        </p:nvSpPr>
        <p:spPr>
          <a:xfrm rot="0">
            <a:off x="0" y="777240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77" name="圆角矩形"/>
          <p:cNvSpPr>
            <a:spLocks/>
          </p:cNvSpPr>
          <p:nvPr/>
        </p:nvSpPr>
        <p:spPr>
          <a:xfrm rot="0">
            <a:off x="274320" y="1005839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274320" y="1024127"/>
            <a:ext cx="1325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228600" y="1399032"/>
            <a:ext cx="14173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Rekrutmen &amp; Seleksi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228600" y="1773936"/>
            <a:ext cx="141732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Screening CV, Psikotes, FGD, Interview HR + User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直线"/>
          <p:cNvSpPr>
            <a:spLocks/>
          </p:cNvSpPr>
          <p:nvPr/>
        </p:nvSpPr>
        <p:spPr>
          <a:xfrm rot="0">
            <a:off x="1600200" y="1664208"/>
            <a:ext cx="118872" cy="0"/>
          </a:xfrm>
          <a:prstGeom prst="line"/>
          <a:noFill/>
          <a:ln w="254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82" name="圆角矩形"/>
          <p:cNvSpPr>
            <a:spLocks/>
          </p:cNvSpPr>
          <p:nvPr/>
        </p:nvSpPr>
        <p:spPr>
          <a:xfrm rot="0">
            <a:off x="1719072" y="1005839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83" name="矩形"/>
          <p:cNvSpPr>
            <a:spLocks/>
          </p:cNvSpPr>
          <p:nvPr/>
        </p:nvSpPr>
        <p:spPr>
          <a:xfrm rot="0">
            <a:off x="1719072" y="1024127"/>
            <a:ext cx="1325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4" name="矩形"/>
          <p:cNvSpPr>
            <a:spLocks/>
          </p:cNvSpPr>
          <p:nvPr/>
        </p:nvSpPr>
        <p:spPr>
          <a:xfrm rot="0">
            <a:off x="1673352" y="1399032"/>
            <a:ext cx="14173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Training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5" name="矩形"/>
          <p:cNvSpPr>
            <a:spLocks/>
          </p:cNvSpPr>
          <p:nvPr/>
        </p:nvSpPr>
        <p:spPr>
          <a:xfrm rot="0">
            <a:off x="1673352" y="1773936"/>
            <a:ext cx="14173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Bulan: Onboarding, Product Knowledge, Technical &amp; Soft Skill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6" name="直线"/>
          <p:cNvSpPr>
            <a:spLocks/>
          </p:cNvSpPr>
          <p:nvPr/>
        </p:nvSpPr>
        <p:spPr>
          <a:xfrm rot="0">
            <a:off x="3044952" y="1664208"/>
            <a:ext cx="118872" cy="0"/>
          </a:xfrm>
          <a:prstGeom prst="line"/>
          <a:noFill/>
          <a:ln w="254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87" name="圆角矩形"/>
          <p:cNvSpPr>
            <a:spLocks/>
          </p:cNvSpPr>
          <p:nvPr/>
        </p:nvSpPr>
        <p:spPr>
          <a:xfrm rot="0">
            <a:off x="3163823" y="1005839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88" name="矩形"/>
          <p:cNvSpPr>
            <a:spLocks/>
          </p:cNvSpPr>
          <p:nvPr/>
        </p:nvSpPr>
        <p:spPr>
          <a:xfrm rot="0">
            <a:off x="3163823" y="1024127"/>
            <a:ext cx="1325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9" name="矩形"/>
          <p:cNvSpPr>
            <a:spLocks/>
          </p:cNvSpPr>
          <p:nvPr/>
        </p:nvSpPr>
        <p:spPr>
          <a:xfrm rot="0">
            <a:off x="3118104" y="1399032"/>
            <a:ext cx="14173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Tahap 1 &amp; 2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0" name="矩形"/>
          <p:cNvSpPr>
            <a:spLocks/>
          </p:cNvSpPr>
          <p:nvPr/>
        </p:nvSpPr>
        <p:spPr>
          <a:xfrm rot="0">
            <a:off x="3118104" y="1773936"/>
            <a:ext cx="14173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Bulan: Basic Operation &amp; Financial Management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直线"/>
          <p:cNvSpPr>
            <a:spLocks/>
          </p:cNvSpPr>
          <p:nvPr/>
        </p:nvSpPr>
        <p:spPr>
          <a:xfrm rot="0">
            <a:off x="4489704" y="1664208"/>
            <a:ext cx="118872" cy="0"/>
          </a:xfrm>
          <a:prstGeom prst="line"/>
          <a:noFill/>
          <a:ln w="254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92" name="圆角矩形"/>
          <p:cNvSpPr>
            <a:spLocks/>
          </p:cNvSpPr>
          <p:nvPr/>
        </p:nvSpPr>
        <p:spPr>
          <a:xfrm rot="0">
            <a:off x="4608576" y="1005839"/>
            <a:ext cx="1325879" cy="1280160"/>
          </a:xfrm>
          <a:prstGeom prst="roundRect">
            <a:avLst>
              <a:gd name="adj" fmla="val 7143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93" name="矩形"/>
          <p:cNvSpPr>
            <a:spLocks/>
          </p:cNvSpPr>
          <p:nvPr/>
        </p:nvSpPr>
        <p:spPr>
          <a:xfrm rot="0">
            <a:off x="4608576" y="1024127"/>
            <a:ext cx="1325879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4" name="矩形"/>
          <p:cNvSpPr>
            <a:spLocks/>
          </p:cNvSpPr>
          <p:nvPr/>
        </p:nvSpPr>
        <p:spPr>
          <a:xfrm rot="0">
            <a:off x="4562856" y="1399032"/>
            <a:ext cx="14173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Rotasi Outlet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矩形"/>
          <p:cNvSpPr>
            <a:spLocks/>
          </p:cNvSpPr>
          <p:nvPr/>
        </p:nvSpPr>
        <p:spPr>
          <a:xfrm rot="0">
            <a:off x="4562856" y="1773936"/>
            <a:ext cx="141732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Bulan: Praktik Mandiri di Outlet Kedua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直线"/>
          <p:cNvSpPr>
            <a:spLocks/>
          </p:cNvSpPr>
          <p:nvPr/>
        </p:nvSpPr>
        <p:spPr>
          <a:xfrm rot="0">
            <a:off x="5934456" y="1664208"/>
            <a:ext cx="118871" cy="0"/>
          </a:xfrm>
          <a:prstGeom prst="line"/>
          <a:noFill/>
          <a:ln w="254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197" name="圆角矩形"/>
          <p:cNvSpPr>
            <a:spLocks/>
          </p:cNvSpPr>
          <p:nvPr/>
        </p:nvSpPr>
        <p:spPr>
          <a:xfrm rot="0">
            <a:off x="6053327" y="1005839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198" name="矩形"/>
          <p:cNvSpPr>
            <a:spLocks/>
          </p:cNvSpPr>
          <p:nvPr/>
        </p:nvSpPr>
        <p:spPr>
          <a:xfrm rot="0">
            <a:off x="6053327" y="1024127"/>
            <a:ext cx="132588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矩形"/>
          <p:cNvSpPr>
            <a:spLocks/>
          </p:cNvSpPr>
          <p:nvPr/>
        </p:nvSpPr>
        <p:spPr>
          <a:xfrm rot="0">
            <a:off x="6007608" y="1399032"/>
            <a:ext cx="14173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Comprehension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矩形"/>
          <p:cNvSpPr>
            <a:spLocks/>
          </p:cNvSpPr>
          <p:nvPr/>
        </p:nvSpPr>
        <p:spPr>
          <a:xfrm rot="0">
            <a:off x="6007608" y="1773936"/>
            <a:ext cx="14173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 Project Presentation + Final Exam Tertulis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直线"/>
          <p:cNvSpPr>
            <a:spLocks/>
          </p:cNvSpPr>
          <p:nvPr/>
        </p:nvSpPr>
        <p:spPr>
          <a:xfrm rot="0">
            <a:off x="7379208" y="1664208"/>
            <a:ext cx="118871" cy="0"/>
          </a:xfrm>
          <a:prstGeom prst="line"/>
          <a:noFill/>
          <a:ln w="254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202" name="圆角矩形"/>
          <p:cNvSpPr>
            <a:spLocks/>
          </p:cNvSpPr>
          <p:nvPr/>
        </p:nvSpPr>
        <p:spPr>
          <a:xfrm rot="0">
            <a:off x="7498080" y="1005839"/>
            <a:ext cx="1325879" cy="1280160"/>
          </a:xfrm>
          <a:prstGeom prst="roundRect">
            <a:avLst>
              <a:gd name="adj" fmla="val 7143"/>
            </a:avLst>
          </a:prstGeom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203" name="矩形"/>
          <p:cNvSpPr>
            <a:spLocks/>
          </p:cNvSpPr>
          <p:nvPr/>
        </p:nvSpPr>
        <p:spPr>
          <a:xfrm rot="0">
            <a:off x="7498080" y="1024127"/>
            <a:ext cx="1325879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6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4" name="矩形"/>
          <p:cNvSpPr>
            <a:spLocks/>
          </p:cNvSpPr>
          <p:nvPr/>
        </p:nvSpPr>
        <p:spPr>
          <a:xfrm rot="0">
            <a:off x="7452360" y="1399032"/>
            <a:ext cx="14173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 Evaluation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矩形"/>
          <p:cNvSpPr>
            <a:spLocks/>
          </p:cNvSpPr>
          <p:nvPr/>
        </p:nvSpPr>
        <p:spPr>
          <a:xfrm rot="0">
            <a:off x="7452360" y="1773936"/>
            <a:ext cx="1417319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Rekap PEPA → Klasifikasi A/B/C/D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矩形"/>
          <p:cNvSpPr>
            <a:spLocks/>
          </p:cNvSpPr>
          <p:nvPr/>
        </p:nvSpPr>
        <p:spPr>
          <a:xfrm rot="0">
            <a:off x="457200" y="2606040"/>
            <a:ext cx="8229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HASIL KLASIFIKASI PENEMPATAN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7" name="圆角矩形"/>
          <p:cNvSpPr>
            <a:spLocks/>
          </p:cNvSpPr>
          <p:nvPr/>
        </p:nvSpPr>
        <p:spPr>
          <a:xfrm rot="0">
            <a:off x="457200" y="3017519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27AE60">
              <a:alpha val="80000"/>
            </a:srgbClr>
          </a:solidFill>
          <a:ln w="12700" cmpd="sng" cap="flat">
            <a:solidFill>
              <a:srgbClr val="27AE60"/>
            </a:solidFill>
            <a:prstDash val="solid"/>
            <a:round/>
          </a:ln>
        </p:spPr>
      </p:sp>
      <p:sp>
        <p:nvSpPr>
          <p:cNvPr id="208" name="矩形"/>
          <p:cNvSpPr>
            <a:spLocks/>
          </p:cNvSpPr>
          <p:nvPr/>
        </p:nvSpPr>
        <p:spPr>
          <a:xfrm rot="0">
            <a:off x="457200" y="3090672"/>
            <a:ext cx="192024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9" name="矩形"/>
          <p:cNvSpPr>
            <a:spLocks/>
          </p:cNvSpPr>
          <p:nvPr/>
        </p:nvSpPr>
        <p:spPr>
          <a:xfrm rot="0">
            <a:off x="457200" y="3657600"/>
            <a:ext cx="19202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Skor ≥ 85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0" name="矩形"/>
          <p:cNvSpPr>
            <a:spLocks/>
          </p:cNvSpPr>
          <p:nvPr/>
        </p:nvSpPr>
        <p:spPr>
          <a:xfrm rot="0">
            <a:off x="548640" y="3950207"/>
            <a:ext cx="173736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Manager Outlet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圆角矩形"/>
          <p:cNvSpPr>
            <a:spLocks/>
          </p:cNvSpPr>
          <p:nvPr/>
        </p:nvSpPr>
        <p:spPr>
          <a:xfrm rot="0">
            <a:off x="2560320" y="3017519"/>
            <a:ext cx="1920239" cy="1737360"/>
          </a:xfrm>
          <a:prstGeom prst="roundRect">
            <a:avLst>
              <a:gd name="adj" fmla="val 5263"/>
            </a:avLst>
          </a:prstGeom>
          <a:solidFill>
            <a:srgbClr val="2980B9">
              <a:alpha val="80000"/>
            </a:srgbClr>
          </a:solidFill>
          <a:ln w="12700" cmpd="sng" cap="flat">
            <a:solidFill>
              <a:srgbClr val="2980B9"/>
            </a:solidFill>
            <a:prstDash val="solid"/>
            <a:round/>
          </a:ln>
        </p:spPr>
      </p:sp>
      <p:sp>
        <p:nvSpPr>
          <p:cNvPr id="212" name="矩形"/>
          <p:cNvSpPr>
            <a:spLocks/>
          </p:cNvSpPr>
          <p:nvPr/>
        </p:nvSpPr>
        <p:spPr>
          <a:xfrm rot="0">
            <a:off x="2560320" y="3090672"/>
            <a:ext cx="1920239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矩形"/>
          <p:cNvSpPr>
            <a:spLocks/>
          </p:cNvSpPr>
          <p:nvPr/>
        </p:nvSpPr>
        <p:spPr>
          <a:xfrm rot="0">
            <a:off x="2560320" y="3657600"/>
            <a:ext cx="192023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Skor 75–84.9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矩形"/>
          <p:cNvSpPr>
            <a:spLocks/>
          </p:cNvSpPr>
          <p:nvPr/>
        </p:nvSpPr>
        <p:spPr>
          <a:xfrm rot="0">
            <a:off x="2651760" y="3950207"/>
            <a:ext cx="173736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Supervisor Outlet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圆角矩形"/>
          <p:cNvSpPr>
            <a:spLocks/>
          </p:cNvSpPr>
          <p:nvPr/>
        </p:nvSpPr>
        <p:spPr>
          <a:xfrm rot="0">
            <a:off x="4663440" y="3017519"/>
            <a:ext cx="1920239" cy="1737360"/>
          </a:xfrm>
          <a:prstGeom prst="roundRect">
            <a:avLst>
              <a:gd name="adj" fmla="val 5263"/>
            </a:avLst>
          </a:prstGeom>
          <a:solidFill>
            <a:srgbClr val="F39C12">
              <a:alpha val="80000"/>
            </a:srgbClr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216" name="矩形"/>
          <p:cNvSpPr>
            <a:spLocks/>
          </p:cNvSpPr>
          <p:nvPr/>
        </p:nvSpPr>
        <p:spPr>
          <a:xfrm rot="0">
            <a:off x="4663440" y="3090672"/>
            <a:ext cx="1920239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7" name="矩形"/>
          <p:cNvSpPr>
            <a:spLocks/>
          </p:cNvSpPr>
          <p:nvPr/>
        </p:nvSpPr>
        <p:spPr>
          <a:xfrm rot="0">
            <a:off x="4663440" y="3657600"/>
            <a:ext cx="192023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Skor 65–74.9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8" name="矩形"/>
          <p:cNvSpPr>
            <a:spLocks/>
          </p:cNvSpPr>
          <p:nvPr/>
        </p:nvSpPr>
        <p:spPr>
          <a:xfrm rot="0">
            <a:off x="4754880" y="3950207"/>
            <a:ext cx="173735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Asisten Supervisor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9" name="圆角矩形"/>
          <p:cNvSpPr>
            <a:spLocks/>
          </p:cNvSpPr>
          <p:nvPr/>
        </p:nvSpPr>
        <p:spPr>
          <a:xfrm rot="0">
            <a:off x="6766559" y="3017519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C0392B">
              <a:alpha val="80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20" name="矩形"/>
          <p:cNvSpPr>
            <a:spLocks/>
          </p:cNvSpPr>
          <p:nvPr/>
        </p:nvSpPr>
        <p:spPr>
          <a:xfrm rot="0">
            <a:off x="6766559" y="3090672"/>
            <a:ext cx="192024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6766559" y="3657600"/>
            <a:ext cx="19202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Skor &lt; 65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2" name="矩形"/>
          <p:cNvSpPr>
            <a:spLocks/>
          </p:cNvSpPr>
          <p:nvPr/>
        </p:nvSpPr>
        <p:spPr>
          <a:xfrm rot="0">
            <a:off x="6858000" y="3950207"/>
            <a:ext cx="173736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Tidak Lolos / Remedial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8837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26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GANTT CHART — PROGRAM MT (12 BULAN)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228" name="矩形"/>
          <p:cNvSpPr>
            <a:spLocks/>
          </p:cNvSpPr>
          <p:nvPr/>
        </p:nvSpPr>
        <p:spPr>
          <a:xfrm rot="0">
            <a:off x="3200400" y="1051560"/>
            <a:ext cx="470916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29" name="矩形"/>
          <p:cNvSpPr>
            <a:spLocks/>
          </p:cNvSpPr>
          <p:nvPr/>
        </p:nvSpPr>
        <p:spPr>
          <a:xfrm rot="0">
            <a:off x="3200400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B1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0" name="矩形"/>
          <p:cNvSpPr>
            <a:spLocks/>
          </p:cNvSpPr>
          <p:nvPr/>
        </p:nvSpPr>
        <p:spPr>
          <a:xfrm rot="0">
            <a:off x="3689604" y="1051560"/>
            <a:ext cx="470916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31" name="矩形"/>
          <p:cNvSpPr>
            <a:spLocks/>
          </p:cNvSpPr>
          <p:nvPr/>
        </p:nvSpPr>
        <p:spPr>
          <a:xfrm rot="0">
            <a:off x="3689604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B2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2" name="矩形"/>
          <p:cNvSpPr>
            <a:spLocks/>
          </p:cNvSpPr>
          <p:nvPr/>
        </p:nvSpPr>
        <p:spPr>
          <a:xfrm rot="0">
            <a:off x="4178808" y="1051560"/>
            <a:ext cx="470916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33" name="矩形"/>
          <p:cNvSpPr>
            <a:spLocks/>
          </p:cNvSpPr>
          <p:nvPr/>
        </p:nvSpPr>
        <p:spPr>
          <a:xfrm rot="0">
            <a:off x="4178808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B3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4" name="矩形"/>
          <p:cNvSpPr>
            <a:spLocks/>
          </p:cNvSpPr>
          <p:nvPr/>
        </p:nvSpPr>
        <p:spPr>
          <a:xfrm rot="0">
            <a:off x="4668012" y="1051560"/>
            <a:ext cx="470916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35" name="矩形"/>
          <p:cNvSpPr>
            <a:spLocks/>
          </p:cNvSpPr>
          <p:nvPr/>
        </p:nvSpPr>
        <p:spPr>
          <a:xfrm rot="0">
            <a:off x="4668012" y="1051560"/>
            <a:ext cx="489204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B4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5157216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37" name="矩形"/>
          <p:cNvSpPr>
            <a:spLocks/>
          </p:cNvSpPr>
          <p:nvPr/>
        </p:nvSpPr>
        <p:spPr>
          <a:xfrm rot="0">
            <a:off x="5157216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B5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5646420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39" name="矩形"/>
          <p:cNvSpPr>
            <a:spLocks/>
          </p:cNvSpPr>
          <p:nvPr/>
        </p:nvSpPr>
        <p:spPr>
          <a:xfrm rot="0">
            <a:off x="5646420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B6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0" name="矩形"/>
          <p:cNvSpPr>
            <a:spLocks/>
          </p:cNvSpPr>
          <p:nvPr/>
        </p:nvSpPr>
        <p:spPr>
          <a:xfrm rot="0">
            <a:off x="6135624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41" name="矩形"/>
          <p:cNvSpPr>
            <a:spLocks/>
          </p:cNvSpPr>
          <p:nvPr/>
        </p:nvSpPr>
        <p:spPr>
          <a:xfrm rot="0">
            <a:off x="6135624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B7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2" name="矩形"/>
          <p:cNvSpPr>
            <a:spLocks/>
          </p:cNvSpPr>
          <p:nvPr/>
        </p:nvSpPr>
        <p:spPr>
          <a:xfrm rot="0">
            <a:off x="6624828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43" name="矩形"/>
          <p:cNvSpPr>
            <a:spLocks/>
          </p:cNvSpPr>
          <p:nvPr/>
        </p:nvSpPr>
        <p:spPr>
          <a:xfrm rot="0">
            <a:off x="6624828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B8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7114031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45" name="矩形"/>
          <p:cNvSpPr>
            <a:spLocks/>
          </p:cNvSpPr>
          <p:nvPr/>
        </p:nvSpPr>
        <p:spPr>
          <a:xfrm rot="0">
            <a:off x="7114031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B9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6" name="矩形"/>
          <p:cNvSpPr>
            <a:spLocks/>
          </p:cNvSpPr>
          <p:nvPr/>
        </p:nvSpPr>
        <p:spPr>
          <a:xfrm rot="0">
            <a:off x="7603235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47" name="矩形"/>
          <p:cNvSpPr>
            <a:spLocks/>
          </p:cNvSpPr>
          <p:nvPr/>
        </p:nvSpPr>
        <p:spPr>
          <a:xfrm rot="0">
            <a:off x="7603235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B10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矩形"/>
          <p:cNvSpPr>
            <a:spLocks/>
          </p:cNvSpPr>
          <p:nvPr/>
        </p:nvSpPr>
        <p:spPr>
          <a:xfrm rot="0">
            <a:off x="8092440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49" name="矩形"/>
          <p:cNvSpPr>
            <a:spLocks/>
          </p:cNvSpPr>
          <p:nvPr/>
        </p:nvSpPr>
        <p:spPr>
          <a:xfrm rot="0">
            <a:off x="8092440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B11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8581644" y="1051560"/>
            <a:ext cx="470915" cy="292608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251" name="矩形"/>
          <p:cNvSpPr>
            <a:spLocks/>
          </p:cNvSpPr>
          <p:nvPr/>
        </p:nvSpPr>
        <p:spPr>
          <a:xfrm rot="0">
            <a:off x="8581644" y="1051560"/>
            <a:ext cx="4892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B12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2" name="矩形"/>
          <p:cNvSpPr>
            <a:spLocks/>
          </p:cNvSpPr>
          <p:nvPr/>
        </p:nvSpPr>
        <p:spPr>
          <a:xfrm rot="0">
            <a:off x="274320" y="1362456"/>
            <a:ext cx="8595360" cy="292607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53" name="矩形"/>
          <p:cNvSpPr>
            <a:spLocks/>
          </p:cNvSpPr>
          <p:nvPr/>
        </p:nvSpPr>
        <p:spPr>
          <a:xfrm rot="0">
            <a:off x="320040" y="1389888"/>
            <a:ext cx="265176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Manpower Planning &amp; Jobdesc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4" name="矩形"/>
          <p:cNvSpPr>
            <a:spLocks/>
          </p:cNvSpPr>
          <p:nvPr/>
        </p:nvSpPr>
        <p:spPr>
          <a:xfrm rot="0">
            <a:off x="2788920" y="1389888"/>
            <a:ext cx="50292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5" name="圆角矩形"/>
          <p:cNvSpPr>
            <a:spLocks/>
          </p:cNvSpPr>
          <p:nvPr/>
        </p:nvSpPr>
        <p:spPr>
          <a:xfrm rot="0">
            <a:off x="3200400" y="1408176"/>
            <a:ext cx="452628" cy="201168"/>
          </a:xfrm>
          <a:prstGeom prst="roundRect">
            <a:avLst>
              <a:gd name="adj" fmla="val 18180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256" name="矩形"/>
          <p:cNvSpPr>
            <a:spLocks/>
          </p:cNvSpPr>
          <p:nvPr/>
        </p:nvSpPr>
        <p:spPr>
          <a:xfrm rot="0">
            <a:off x="274320" y="1673352"/>
            <a:ext cx="8595360" cy="292607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57" name="矩形"/>
          <p:cNvSpPr>
            <a:spLocks/>
          </p:cNvSpPr>
          <p:nvPr/>
        </p:nvSpPr>
        <p:spPr>
          <a:xfrm rot="0">
            <a:off x="320040" y="1700784"/>
            <a:ext cx="265176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Open Vacancy &amp; Sourcing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8" name="矩形"/>
          <p:cNvSpPr>
            <a:spLocks/>
          </p:cNvSpPr>
          <p:nvPr/>
        </p:nvSpPr>
        <p:spPr>
          <a:xfrm rot="0">
            <a:off x="2788920" y="1700784"/>
            <a:ext cx="50292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1.5 Bln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圆角矩形"/>
          <p:cNvSpPr>
            <a:spLocks/>
          </p:cNvSpPr>
          <p:nvPr/>
        </p:nvSpPr>
        <p:spPr>
          <a:xfrm rot="0">
            <a:off x="3200400" y="1719072"/>
            <a:ext cx="941831" cy="201168"/>
          </a:xfrm>
          <a:prstGeom prst="roundRect">
            <a:avLst>
              <a:gd name="adj" fmla="val 18180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260" name="矩形"/>
          <p:cNvSpPr>
            <a:spLocks/>
          </p:cNvSpPr>
          <p:nvPr/>
        </p:nvSpPr>
        <p:spPr>
          <a:xfrm rot="0">
            <a:off x="274320" y="1984248"/>
            <a:ext cx="8595360" cy="292608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61" name="矩形"/>
          <p:cNvSpPr>
            <a:spLocks/>
          </p:cNvSpPr>
          <p:nvPr/>
        </p:nvSpPr>
        <p:spPr>
          <a:xfrm rot="0">
            <a:off x="320040" y="2011679"/>
            <a:ext cx="265176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Screening CV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2788920" y="2011679"/>
            <a:ext cx="50292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3" name="圆角矩形"/>
          <p:cNvSpPr>
            <a:spLocks/>
          </p:cNvSpPr>
          <p:nvPr/>
        </p:nvSpPr>
        <p:spPr>
          <a:xfrm rot="0">
            <a:off x="3689604" y="2029968"/>
            <a:ext cx="452628" cy="201167"/>
          </a:xfrm>
          <a:prstGeom prst="roundRect">
            <a:avLst>
              <a:gd name="adj" fmla="val 18180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264" name="矩形"/>
          <p:cNvSpPr>
            <a:spLocks/>
          </p:cNvSpPr>
          <p:nvPr/>
        </p:nvSpPr>
        <p:spPr>
          <a:xfrm rot="0">
            <a:off x="274320" y="2295144"/>
            <a:ext cx="8595360" cy="292608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65" name="矩形"/>
          <p:cNvSpPr>
            <a:spLocks/>
          </p:cNvSpPr>
          <p:nvPr/>
        </p:nvSpPr>
        <p:spPr>
          <a:xfrm rot="0">
            <a:off x="320040" y="2322576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Psikotes &amp; FGD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6" name="矩形"/>
          <p:cNvSpPr>
            <a:spLocks/>
          </p:cNvSpPr>
          <p:nvPr/>
        </p:nvSpPr>
        <p:spPr>
          <a:xfrm rot="0">
            <a:off x="2788920" y="2322576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7" name="圆角矩形"/>
          <p:cNvSpPr>
            <a:spLocks/>
          </p:cNvSpPr>
          <p:nvPr/>
        </p:nvSpPr>
        <p:spPr>
          <a:xfrm rot="0">
            <a:off x="3689604" y="2340864"/>
            <a:ext cx="941831" cy="201168"/>
          </a:xfrm>
          <a:prstGeom prst="roundRect">
            <a:avLst>
              <a:gd name="adj" fmla="val 18180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268" name="矩形"/>
          <p:cNvSpPr>
            <a:spLocks/>
          </p:cNvSpPr>
          <p:nvPr/>
        </p:nvSpPr>
        <p:spPr>
          <a:xfrm rot="0">
            <a:off x="274320" y="2606040"/>
            <a:ext cx="8595360" cy="292607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69" name="矩形"/>
          <p:cNvSpPr>
            <a:spLocks/>
          </p:cNvSpPr>
          <p:nvPr/>
        </p:nvSpPr>
        <p:spPr>
          <a:xfrm rot="0">
            <a:off x="320040" y="2633472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Interview HR + User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0" name="矩形"/>
          <p:cNvSpPr>
            <a:spLocks/>
          </p:cNvSpPr>
          <p:nvPr/>
        </p:nvSpPr>
        <p:spPr>
          <a:xfrm rot="0">
            <a:off x="2788920" y="2633472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1" name="圆角矩形"/>
          <p:cNvSpPr>
            <a:spLocks/>
          </p:cNvSpPr>
          <p:nvPr/>
        </p:nvSpPr>
        <p:spPr>
          <a:xfrm rot="0">
            <a:off x="4178808" y="2651760"/>
            <a:ext cx="452628" cy="201168"/>
          </a:xfrm>
          <a:prstGeom prst="roundRect">
            <a:avLst>
              <a:gd name="adj" fmla="val 18180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272" name="矩形"/>
          <p:cNvSpPr>
            <a:spLocks/>
          </p:cNvSpPr>
          <p:nvPr/>
        </p:nvSpPr>
        <p:spPr>
          <a:xfrm rot="0">
            <a:off x="274320" y="2916936"/>
            <a:ext cx="8595360" cy="292607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73" name="矩形"/>
          <p:cNvSpPr>
            <a:spLocks/>
          </p:cNvSpPr>
          <p:nvPr/>
        </p:nvSpPr>
        <p:spPr>
          <a:xfrm rot="0">
            <a:off x="320040" y="2944367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Offering &amp; Administrasi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4" name="矩形"/>
          <p:cNvSpPr>
            <a:spLocks/>
          </p:cNvSpPr>
          <p:nvPr/>
        </p:nvSpPr>
        <p:spPr>
          <a:xfrm rot="0">
            <a:off x="2788920" y="2944367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5" name="圆角矩形"/>
          <p:cNvSpPr>
            <a:spLocks/>
          </p:cNvSpPr>
          <p:nvPr/>
        </p:nvSpPr>
        <p:spPr>
          <a:xfrm rot="0">
            <a:off x="4178808" y="2962656"/>
            <a:ext cx="452628" cy="201168"/>
          </a:xfrm>
          <a:prstGeom prst="roundRect">
            <a:avLst>
              <a:gd name="adj" fmla="val 18180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276" name="矩形"/>
          <p:cNvSpPr>
            <a:spLocks/>
          </p:cNvSpPr>
          <p:nvPr/>
        </p:nvSpPr>
        <p:spPr>
          <a:xfrm rot="0">
            <a:off x="274320" y="3227832"/>
            <a:ext cx="8595360" cy="292607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77" name="矩形"/>
          <p:cNvSpPr>
            <a:spLocks/>
          </p:cNvSpPr>
          <p:nvPr/>
        </p:nvSpPr>
        <p:spPr>
          <a:xfrm rot="0">
            <a:off x="320040" y="3255264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Training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8" name="矩形"/>
          <p:cNvSpPr>
            <a:spLocks/>
          </p:cNvSpPr>
          <p:nvPr/>
        </p:nvSpPr>
        <p:spPr>
          <a:xfrm rot="0">
            <a:off x="2788920" y="3255264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Bln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9" name="圆角矩形"/>
          <p:cNvSpPr>
            <a:spLocks/>
          </p:cNvSpPr>
          <p:nvPr/>
        </p:nvSpPr>
        <p:spPr>
          <a:xfrm rot="0">
            <a:off x="4668012" y="3273552"/>
            <a:ext cx="452628" cy="201168"/>
          </a:xfrm>
          <a:prstGeom prst="roundRect">
            <a:avLst>
              <a:gd name="adj" fmla="val 1818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80" name="矩形"/>
          <p:cNvSpPr>
            <a:spLocks/>
          </p:cNvSpPr>
          <p:nvPr/>
        </p:nvSpPr>
        <p:spPr>
          <a:xfrm rot="0">
            <a:off x="274320" y="3538728"/>
            <a:ext cx="8595360" cy="292607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81" name="矩形"/>
          <p:cNvSpPr>
            <a:spLocks/>
          </p:cNvSpPr>
          <p:nvPr/>
        </p:nvSpPr>
        <p:spPr>
          <a:xfrm rot="0">
            <a:off x="320040" y="3566160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Tahap 1 - Basic Operation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2" name="矩形"/>
          <p:cNvSpPr>
            <a:spLocks/>
          </p:cNvSpPr>
          <p:nvPr/>
        </p:nvSpPr>
        <p:spPr>
          <a:xfrm rot="0">
            <a:off x="2788920" y="3566160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Bln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3" name="圆角矩形"/>
          <p:cNvSpPr>
            <a:spLocks/>
          </p:cNvSpPr>
          <p:nvPr/>
        </p:nvSpPr>
        <p:spPr>
          <a:xfrm rot="0">
            <a:off x="5157216" y="3584448"/>
            <a:ext cx="941832" cy="201168"/>
          </a:xfrm>
          <a:prstGeom prst="roundRect">
            <a:avLst>
              <a:gd name="adj" fmla="val 1818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284" name="矩形"/>
          <p:cNvSpPr>
            <a:spLocks/>
          </p:cNvSpPr>
          <p:nvPr/>
        </p:nvSpPr>
        <p:spPr>
          <a:xfrm rot="0">
            <a:off x="274320" y="3849623"/>
            <a:ext cx="8595360" cy="292607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85" name="矩形"/>
          <p:cNvSpPr>
            <a:spLocks/>
          </p:cNvSpPr>
          <p:nvPr/>
        </p:nvSpPr>
        <p:spPr>
          <a:xfrm rot="0">
            <a:off x="320040" y="3877055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Tahap 2 - Financial &amp; Leadership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6" name="矩形"/>
          <p:cNvSpPr>
            <a:spLocks/>
          </p:cNvSpPr>
          <p:nvPr/>
        </p:nvSpPr>
        <p:spPr>
          <a:xfrm rot="0">
            <a:off x="2788920" y="3877055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Bln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7" name="圆角矩形"/>
          <p:cNvSpPr>
            <a:spLocks/>
          </p:cNvSpPr>
          <p:nvPr/>
        </p:nvSpPr>
        <p:spPr>
          <a:xfrm rot="0">
            <a:off x="6135624" y="3895344"/>
            <a:ext cx="941832" cy="201168"/>
          </a:xfrm>
          <a:prstGeom prst="roundRect">
            <a:avLst>
              <a:gd name="adj" fmla="val 18180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288" name="矩形"/>
          <p:cNvSpPr>
            <a:spLocks/>
          </p:cNvSpPr>
          <p:nvPr/>
        </p:nvSpPr>
        <p:spPr>
          <a:xfrm rot="0">
            <a:off x="274320" y="4160520"/>
            <a:ext cx="8595360" cy="292607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89" name="矩形"/>
          <p:cNvSpPr>
            <a:spLocks/>
          </p:cNvSpPr>
          <p:nvPr/>
        </p:nvSpPr>
        <p:spPr>
          <a:xfrm rot="0">
            <a:off x="320040" y="4187952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Rotasi Outlet &amp; Praktik Mandiri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0" name="矩形"/>
          <p:cNvSpPr>
            <a:spLocks/>
          </p:cNvSpPr>
          <p:nvPr/>
        </p:nvSpPr>
        <p:spPr>
          <a:xfrm rot="0">
            <a:off x="2788920" y="4187952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Bln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1" name="圆角矩形"/>
          <p:cNvSpPr>
            <a:spLocks/>
          </p:cNvSpPr>
          <p:nvPr/>
        </p:nvSpPr>
        <p:spPr>
          <a:xfrm rot="0">
            <a:off x="7114031" y="4206240"/>
            <a:ext cx="941832" cy="201168"/>
          </a:xfrm>
          <a:prstGeom prst="roundRect">
            <a:avLst>
              <a:gd name="adj" fmla="val 18180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</p:spPr>
      </p:sp>
      <p:sp>
        <p:nvSpPr>
          <p:cNvPr id="292" name="矩形"/>
          <p:cNvSpPr>
            <a:spLocks/>
          </p:cNvSpPr>
          <p:nvPr/>
        </p:nvSpPr>
        <p:spPr>
          <a:xfrm rot="0">
            <a:off x="274320" y="4471416"/>
            <a:ext cx="8595360" cy="292607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93" name="矩形"/>
          <p:cNvSpPr>
            <a:spLocks/>
          </p:cNvSpPr>
          <p:nvPr/>
        </p:nvSpPr>
        <p:spPr>
          <a:xfrm rot="0">
            <a:off x="320040" y="4498848"/>
            <a:ext cx="265176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Comprehension &amp; Final Exam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2788920" y="4498848"/>
            <a:ext cx="502920" cy="23774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5" name="圆角矩形"/>
          <p:cNvSpPr>
            <a:spLocks/>
          </p:cNvSpPr>
          <p:nvPr/>
        </p:nvSpPr>
        <p:spPr>
          <a:xfrm rot="0">
            <a:off x="8092440" y="4517136"/>
            <a:ext cx="452628" cy="201168"/>
          </a:xfrm>
          <a:prstGeom prst="roundRect">
            <a:avLst>
              <a:gd name="adj" fmla="val 18180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296" name="矩形"/>
          <p:cNvSpPr>
            <a:spLocks/>
          </p:cNvSpPr>
          <p:nvPr/>
        </p:nvSpPr>
        <p:spPr>
          <a:xfrm rot="0">
            <a:off x="274320" y="4782312"/>
            <a:ext cx="8595360" cy="292607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297" name="矩形"/>
          <p:cNvSpPr>
            <a:spLocks/>
          </p:cNvSpPr>
          <p:nvPr/>
        </p:nvSpPr>
        <p:spPr>
          <a:xfrm rot="0">
            <a:off x="320040" y="4809744"/>
            <a:ext cx="265176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 Evaluation &amp; Penempatan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8" name="矩形"/>
          <p:cNvSpPr>
            <a:spLocks/>
          </p:cNvSpPr>
          <p:nvPr/>
        </p:nvSpPr>
        <p:spPr>
          <a:xfrm rot="0">
            <a:off x="2788920" y="4809744"/>
            <a:ext cx="502920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Mgg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9" name="圆角矩形"/>
          <p:cNvSpPr>
            <a:spLocks/>
          </p:cNvSpPr>
          <p:nvPr/>
        </p:nvSpPr>
        <p:spPr>
          <a:xfrm rot="0">
            <a:off x="8581644" y="4828032"/>
            <a:ext cx="452628" cy="201168"/>
          </a:xfrm>
          <a:prstGeom prst="roundRect">
            <a:avLst>
              <a:gd name="adj" fmla="val 18180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764968390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303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PENILAIAN &amp; KLASIFIKASI MT (PEPA)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4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305" name="矩形"/>
          <p:cNvSpPr>
            <a:spLocks/>
          </p:cNvSpPr>
          <p:nvPr/>
        </p:nvSpPr>
        <p:spPr>
          <a:xfrm rot="0">
            <a:off x="365760" y="1051560"/>
            <a:ext cx="5029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KOMPONEN &amp; BOBOT PENILAIAN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6" name="矩形"/>
          <p:cNvSpPr>
            <a:spLocks/>
          </p:cNvSpPr>
          <p:nvPr/>
        </p:nvSpPr>
        <p:spPr>
          <a:xfrm rot="0">
            <a:off x="365760" y="1453896"/>
            <a:ext cx="192024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Technical Skill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7" name="圆角矩形"/>
          <p:cNvSpPr>
            <a:spLocks/>
          </p:cNvSpPr>
          <p:nvPr/>
        </p:nvSpPr>
        <p:spPr>
          <a:xfrm rot="0">
            <a:off x="2331720" y="1508759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08" name="圆角矩形"/>
          <p:cNvSpPr>
            <a:spLocks/>
          </p:cNvSpPr>
          <p:nvPr/>
        </p:nvSpPr>
        <p:spPr>
          <a:xfrm rot="0">
            <a:off x="2331720" y="1508759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09" name="矩形"/>
          <p:cNvSpPr>
            <a:spLocks/>
          </p:cNvSpPr>
          <p:nvPr/>
        </p:nvSpPr>
        <p:spPr>
          <a:xfrm rot="0">
            <a:off x="4023359" y="1463040"/>
            <a:ext cx="36575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30%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0" name="矩形"/>
          <p:cNvSpPr>
            <a:spLocks/>
          </p:cNvSpPr>
          <p:nvPr/>
        </p:nvSpPr>
        <p:spPr>
          <a:xfrm rot="0">
            <a:off x="365760" y="1929384"/>
            <a:ext cx="192024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Soft Skill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1" name="圆角矩形"/>
          <p:cNvSpPr>
            <a:spLocks/>
          </p:cNvSpPr>
          <p:nvPr/>
        </p:nvSpPr>
        <p:spPr>
          <a:xfrm rot="0">
            <a:off x="2331720" y="1984248"/>
            <a:ext cx="1645920" cy="201167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12" name="圆角矩形"/>
          <p:cNvSpPr>
            <a:spLocks/>
          </p:cNvSpPr>
          <p:nvPr/>
        </p:nvSpPr>
        <p:spPr>
          <a:xfrm rot="0">
            <a:off x="2331720" y="1984248"/>
            <a:ext cx="822960" cy="201167"/>
          </a:xfrm>
          <a:prstGeom prst="roundRect">
            <a:avLst>
              <a:gd name="adj" fmla="val 22726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313" name="矩形"/>
          <p:cNvSpPr>
            <a:spLocks/>
          </p:cNvSpPr>
          <p:nvPr/>
        </p:nvSpPr>
        <p:spPr>
          <a:xfrm rot="0">
            <a:off x="3200400" y="1938527"/>
            <a:ext cx="36575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E67E2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15%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4" name="矩形"/>
          <p:cNvSpPr>
            <a:spLocks/>
          </p:cNvSpPr>
          <p:nvPr/>
        </p:nvSpPr>
        <p:spPr>
          <a:xfrm rot="0">
            <a:off x="365760" y="2404872"/>
            <a:ext cx="192024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Financial Management (In Class)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5" name="圆角矩形"/>
          <p:cNvSpPr>
            <a:spLocks/>
          </p:cNvSpPr>
          <p:nvPr/>
        </p:nvSpPr>
        <p:spPr>
          <a:xfrm rot="0">
            <a:off x="2331720" y="2459735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16" name="圆角矩形"/>
          <p:cNvSpPr>
            <a:spLocks/>
          </p:cNvSpPr>
          <p:nvPr/>
        </p:nvSpPr>
        <p:spPr>
          <a:xfrm rot="0">
            <a:off x="2331720" y="2459735"/>
            <a:ext cx="822960" cy="201168"/>
          </a:xfrm>
          <a:prstGeom prst="roundRect">
            <a:avLst>
              <a:gd name="adj" fmla="val 22726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317" name="矩形"/>
          <p:cNvSpPr>
            <a:spLocks/>
          </p:cNvSpPr>
          <p:nvPr/>
        </p:nvSpPr>
        <p:spPr>
          <a:xfrm rot="0">
            <a:off x="3200400" y="2414016"/>
            <a:ext cx="36575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9B59B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15%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8" name="矩形"/>
          <p:cNvSpPr>
            <a:spLocks/>
          </p:cNvSpPr>
          <p:nvPr/>
        </p:nvSpPr>
        <p:spPr>
          <a:xfrm rot="0">
            <a:off x="365760" y="2880360"/>
            <a:ext cx="192024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Presentasi Final Project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9" name="圆角矩形"/>
          <p:cNvSpPr>
            <a:spLocks/>
          </p:cNvSpPr>
          <p:nvPr/>
        </p:nvSpPr>
        <p:spPr>
          <a:xfrm rot="0">
            <a:off x="2331720" y="2935223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20" name="圆角矩形"/>
          <p:cNvSpPr>
            <a:spLocks/>
          </p:cNvSpPr>
          <p:nvPr/>
        </p:nvSpPr>
        <p:spPr>
          <a:xfrm rot="0">
            <a:off x="2331720" y="2935223"/>
            <a:ext cx="548640" cy="201168"/>
          </a:xfrm>
          <a:prstGeom prst="roundRect">
            <a:avLst>
              <a:gd name="adj" fmla="val 22726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321" name="矩形"/>
          <p:cNvSpPr>
            <a:spLocks/>
          </p:cNvSpPr>
          <p:nvPr/>
        </p:nvSpPr>
        <p:spPr>
          <a:xfrm rot="0">
            <a:off x="2926080" y="2889504"/>
            <a:ext cx="36575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3498D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2" name="矩形"/>
          <p:cNvSpPr>
            <a:spLocks/>
          </p:cNvSpPr>
          <p:nvPr/>
        </p:nvSpPr>
        <p:spPr>
          <a:xfrm rot="0">
            <a:off x="2560320" y="1453896"/>
            <a:ext cx="1920239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Product Knowledge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3" name="圆角矩形"/>
          <p:cNvSpPr>
            <a:spLocks/>
          </p:cNvSpPr>
          <p:nvPr/>
        </p:nvSpPr>
        <p:spPr>
          <a:xfrm rot="0">
            <a:off x="4526280" y="1508759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24" name="圆角矩形"/>
          <p:cNvSpPr>
            <a:spLocks/>
          </p:cNvSpPr>
          <p:nvPr/>
        </p:nvSpPr>
        <p:spPr>
          <a:xfrm rot="0">
            <a:off x="4526280" y="1508759"/>
            <a:ext cx="548639" cy="201168"/>
          </a:xfrm>
          <a:prstGeom prst="roundRect">
            <a:avLst>
              <a:gd name="adj" fmla="val 22726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</p:spPr>
      </p:sp>
      <p:sp>
        <p:nvSpPr>
          <p:cNvPr id="325" name="矩形"/>
          <p:cNvSpPr>
            <a:spLocks/>
          </p:cNvSpPr>
          <p:nvPr/>
        </p:nvSpPr>
        <p:spPr>
          <a:xfrm rot="0">
            <a:off x="5120640" y="1463040"/>
            <a:ext cx="36575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16A0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6" name="矩形"/>
          <p:cNvSpPr>
            <a:spLocks/>
          </p:cNvSpPr>
          <p:nvPr/>
        </p:nvSpPr>
        <p:spPr>
          <a:xfrm rot="0">
            <a:off x="2560320" y="1929384"/>
            <a:ext cx="1920239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Soft Skill In Class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7" name="圆角矩形"/>
          <p:cNvSpPr>
            <a:spLocks/>
          </p:cNvSpPr>
          <p:nvPr/>
        </p:nvSpPr>
        <p:spPr>
          <a:xfrm rot="0">
            <a:off x="4526280" y="1984248"/>
            <a:ext cx="1645920" cy="201167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28" name="圆角矩形"/>
          <p:cNvSpPr>
            <a:spLocks/>
          </p:cNvSpPr>
          <p:nvPr/>
        </p:nvSpPr>
        <p:spPr>
          <a:xfrm rot="0">
            <a:off x="4526280" y="1984248"/>
            <a:ext cx="548639" cy="201167"/>
          </a:xfrm>
          <a:prstGeom prst="roundRect">
            <a:avLst>
              <a:gd name="adj" fmla="val 22726"/>
            </a:avLst>
          </a:prstGeom>
          <a:solidFill>
            <a:srgbClr val="2ECC71"/>
          </a:solidFill>
          <a:ln w="12700" cmpd="sng" cap="flat">
            <a:solidFill>
              <a:srgbClr val="2ECC71"/>
            </a:solidFill>
            <a:prstDash val="solid"/>
            <a:round/>
          </a:ln>
        </p:spPr>
      </p:sp>
      <p:sp>
        <p:nvSpPr>
          <p:cNvPr id="329" name="矩形"/>
          <p:cNvSpPr>
            <a:spLocks/>
          </p:cNvSpPr>
          <p:nvPr/>
        </p:nvSpPr>
        <p:spPr>
          <a:xfrm rot="0">
            <a:off x="5120640" y="1938527"/>
            <a:ext cx="36575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2ECC71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10%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0" name="矩形"/>
          <p:cNvSpPr>
            <a:spLocks/>
          </p:cNvSpPr>
          <p:nvPr/>
        </p:nvSpPr>
        <p:spPr>
          <a:xfrm rot="0">
            <a:off x="2560320" y="2404872"/>
            <a:ext cx="1920239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Onboarding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1" name="圆角矩形"/>
          <p:cNvSpPr>
            <a:spLocks/>
          </p:cNvSpPr>
          <p:nvPr/>
        </p:nvSpPr>
        <p:spPr>
          <a:xfrm rot="0">
            <a:off x="4526280" y="2459735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32" name="圆角矩形"/>
          <p:cNvSpPr>
            <a:spLocks/>
          </p:cNvSpPr>
          <p:nvPr/>
        </p:nvSpPr>
        <p:spPr>
          <a:xfrm rot="0">
            <a:off x="4526280" y="2459735"/>
            <a:ext cx="274320" cy="201168"/>
          </a:xfrm>
          <a:prstGeom prst="roundRect">
            <a:avLst>
              <a:gd name="adj" fmla="val 22726"/>
            </a:avLst>
          </a:prstGeom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333" name="矩形"/>
          <p:cNvSpPr>
            <a:spLocks/>
          </p:cNvSpPr>
          <p:nvPr/>
        </p:nvSpPr>
        <p:spPr>
          <a:xfrm rot="0">
            <a:off x="4846320" y="2414016"/>
            <a:ext cx="36576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4" name="矩形"/>
          <p:cNvSpPr>
            <a:spLocks/>
          </p:cNvSpPr>
          <p:nvPr/>
        </p:nvSpPr>
        <p:spPr>
          <a:xfrm rot="0">
            <a:off x="2560320" y="2880360"/>
            <a:ext cx="192023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Final Exam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5" name="圆角矩形"/>
          <p:cNvSpPr>
            <a:spLocks/>
          </p:cNvSpPr>
          <p:nvPr/>
        </p:nvSpPr>
        <p:spPr>
          <a:xfrm rot="0">
            <a:off x="4526280" y="2935223"/>
            <a:ext cx="1645920" cy="201168"/>
          </a:xfrm>
          <a:prstGeom prst="roundRect">
            <a:avLst>
              <a:gd name="adj" fmla="val 22726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36" name="圆角矩形"/>
          <p:cNvSpPr>
            <a:spLocks/>
          </p:cNvSpPr>
          <p:nvPr/>
        </p:nvSpPr>
        <p:spPr>
          <a:xfrm rot="0">
            <a:off x="4526280" y="2935223"/>
            <a:ext cx="274320" cy="201168"/>
          </a:xfrm>
          <a:prstGeom prst="roundRect">
            <a:avLst>
              <a:gd name="adj" fmla="val 22726"/>
            </a:avLst>
          </a:prstGeom>
          <a:solidFill>
            <a:srgbClr val="95A5A6"/>
          </a:solidFill>
          <a:ln w="12700" cmpd="sng" cap="flat">
            <a:solidFill>
              <a:srgbClr val="95A5A6"/>
            </a:solidFill>
            <a:prstDash val="solid"/>
            <a:round/>
          </a:ln>
        </p:spPr>
      </p:sp>
      <p:sp>
        <p:nvSpPr>
          <p:cNvPr id="337" name="矩形"/>
          <p:cNvSpPr>
            <a:spLocks/>
          </p:cNvSpPr>
          <p:nvPr/>
        </p:nvSpPr>
        <p:spPr>
          <a:xfrm rot="0">
            <a:off x="4846320" y="2889504"/>
            <a:ext cx="3657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95A5A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5%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8" name="矩形"/>
          <p:cNvSpPr>
            <a:spLocks/>
          </p:cNvSpPr>
          <p:nvPr/>
        </p:nvSpPr>
        <p:spPr>
          <a:xfrm rot="0">
            <a:off x="5029200" y="1051560"/>
            <a:ext cx="36576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REKAP NILAI PESERTA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9" name="圆角矩形"/>
          <p:cNvSpPr>
            <a:spLocks/>
          </p:cNvSpPr>
          <p:nvPr/>
        </p:nvSpPr>
        <p:spPr>
          <a:xfrm rot="0">
            <a:off x="5029200" y="1463040"/>
            <a:ext cx="3749039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40" name="椭圆"/>
          <p:cNvSpPr>
            <a:spLocks/>
          </p:cNvSpPr>
          <p:nvPr/>
        </p:nvSpPr>
        <p:spPr>
          <a:xfrm rot="0">
            <a:off x="5120640" y="1536192"/>
            <a:ext cx="402336" cy="402336"/>
          </a:xfrm>
          <a:prstGeom prst="ellipse"/>
          <a:solidFill>
            <a:srgbClr val="2980B9"/>
          </a:solidFill>
          <a:ln w="12700" cmpd="sng" cap="flat">
            <a:solidFill>
              <a:srgbClr val="2980B9"/>
            </a:solidFill>
            <a:prstDash val="solid"/>
            <a:round/>
          </a:ln>
        </p:spPr>
      </p:sp>
      <p:sp>
        <p:nvSpPr>
          <p:cNvPr id="341" name="矩形"/>
          <p:cNvSpPr>
            <a:spLocks/>
          </p:cNvSpPr>
          <p:nvPr/>
        </p:nvSpPr>
        <p:spPr>
          <a:xfrm rot="0">
            <a:off x="5120640" y="1536192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2" name="矩形"/>
          <p:cNvSpPr>
            <a:spLocks/>
          </p:cNvSpPr>
          <p:nvPr/>
        </p:nvSpPr>
        <p:spPr>
          <a:xfrm rot="0">
            <a:off x="5623560" y="1517904"/>
            <a:ext cx="20116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Peserta MT 1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3" name="矩形"/>
          <p:cNvSpPr>
            <a:spLocks/>
          </p:cNvSpPr>
          <p:nvPr/>
        </p:nvSpPr>
        <p:spPr>
          <a:xfrm rot="0">
            <a:off x="5623560" y="1737360"/>
            <a:ext cx="118871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MT-001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4" name="圆角矩形"/>
          <p:cNvSpPr>
            <a:spLocks/>
          </p:cNvSpPr>
          <p:nvPr/>
        </p:nvSpPr>
        <p:spPr>
          <a:xfrm rot="0">
            <a:off x="7360919" y="1645920"/>
            <a:ext cx="1280159" cy="164591"/>
          </a:xfrm>
          <a:prstGeom prst="roundRect">
            <a:avLst>
              <a:gd name="adj" fmla="val 22222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45" name="圆角矩形"/>
          <p:cNvSpPr>
            <a:spLocks/>
          </p:cNvSpPr>
          <p:nvPr/>
        </p:nvSpPr>
        <p:spPr>
          <a:xfrm rot="0">
            <a:off x="7360919" y="1645920"/>
            <a:ext cx="1031809" cy="164591"/>
          </a:xfrm>
          <a:prstGeom prst="roundRect">
            <a:avLst>
              <a:gd name="adj" fmla="val 22222"/>
            </a:avLst>
          </a:prstGeom>
          <a:solidFill>
            <a:srgbClr val="2980B9"/>
          </a:solidFill>
          <a:ln w="12700" cmpd="sng" cap="flat">
            <a:solidFill>
              <a:srgbClr val="2980B9"/>
            </a:solidFill>
            <a:prstDash val="solid"/>
            <a:round/>
          </a:ln>
        </p:spPr>
      </p:sp>
      <p:sp>
        <p:nvSpPr>
          <p:cNvPr id="346" name="矩形"/>
          <p:cNvSpPr>
            <a:spLocks/>
          </p:cNvSpPr>
          <p:nvPr/>
        </p:nvSpPr>
        <p:spPr>
          <a:xfrm rot="0">
            <a:off x="7360919" y="1499616"/>
            <a:ext cx="1280159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980B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80.6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7" name="圆角矩形"/>
          <p:cNvSpPr>
            <a:spLocks/>
          </p:cNvSpPr>
          <p:nvPr/>
        </p:nvSpPr>
        <p:spPr>
          <a:xfrm rot="0">
            <a:off x="5029200" y="2121408"/>
            <a:ext cx="3749039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48" name="椭圆"/>
          <p:cNvSpPr>
            <a:spLocks/>
          </p:cNvSpPr>
          <p:nvPr/>
        </p:nvSpPr>
        <p:spPr>
          <a:xfrm rot="0">
            <a:off x="5120640" y="2194560"/>
            <a:ext cx="402336" cy="402336"/>
          </a:xfrm>
          <a:prstGeom prst="ellipse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349" name="矩形"/>
          <p:cNvSpPr>
            <a:spLocks/>
          </p:cNvSpPr>
          <p:nvPr/>
        </p:nvSpPr>
        <p:spPr>
          <a:xfrm rot="0">
            <a:off x="5120640" y="2194560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0" name="矩形"/>
          <p:cNvSpPr>
            <a:spLocks/>
          </p:cNvSpPr>
          <p:nvPr/>
        </p:nvSpPr>
        <p:spPr>
          <a:xfrm rot="0">
            <a:off x="5623560" y="2176272"/>
            <a:ext cx="20116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Peserta MT 2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1" name="矩形"/>
          <p:cNvSpPr>
            <a:spLocks/>
          </p:cNvSpPr>
          <p:nvPr/>
        </p:nvSpPr>
        <p:spPr>
          <a:xfrm rot="0">
            <a:off x="5623560" y="2395728"/>
            <a:ext cx="118871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MT-002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2" name="圆角矩形"/>
          <p:cNvSpPr>
            <a:spLocks/>
          </p:cNvSpPr>
          <p:nvPr/>
        </p:nvSpPr>
        <p:spPr>
          <a:xfrm rot="0">
            <a:off x="7360919" y="2304288"/>
            <a:ext cx="1280159" cy="164592"/>
          </a:xfrm>
          <a:prstGeom prst="roundRect">
            <a:avLst>
              <a:gd name="adj" fmla="val 22222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53" name="圆角矩形"/>
          <p:cNvSpPr>
            <a:spLocks/>
          </p:cNvSpPr>
          <p:nvPr/>
        </p:nvSpPr>
        <p:spPr>
          <a:xfrm rot="0">
            <a:off x="7360919" y="2304288"/>
            <a:ext cx="875629" cy="164592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354" name="矩形"/>
          <p:cNvSpPr>
            <a:spLocks/>
          </p:cNvSpPr>
          <p:nvPr/>
        </p:nvSpPr>
        <p:spPr>
          <a:xfrm rot="0">
            <a:off x="7360919" y="2157984"/>
            <a:ext cx="128015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68.4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5" name="圆角矩形"/>
          <p:cNvSpPr>
            <a:spLocks/>
          </p:cNvSpPr>
          <p:nvPr/>
        </p:nvSpPr>
        <p:spPr>
          <a:xfrm rot="0">
            <a:off x="5029200" y="2779776"/>
            <a:ext cx="3749039" cy="548639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56" name="椭圆"/>
          <p:cNvSpPr>
            <a:spLocks/>
          </p:cNvSpPr>
          <p:nvPr/>
        </p:nvSpPr>
        <p:spPr>
          <a:xfrm rot="0">
            <a:off x="5120640" y="2852928"/>
            <a:ext cx="402336" cy="402335"/>
          </a:xfrm>
          <a:prstGeom prst="ellipse"/>
          <a:solidFill>
            <a:srgbClr val="27AE60"/>
          </a:solidFill>
          <a:ln w="12700" cmpd="sng" cap="flat">
            <a:solidFill>
              <a:srgbClr val="27AE60"/>
            </a:solidFill>
            <a:prstDash val="solid"/>
            <a:round/>
          </a:ln>
        </p:spPr>
      </p:sp>
      <p:sp>
        <p:nvSpPr>
          <p:cNvPr id="357" name="矩形"/>
          <p:cNvSpPr>
            <a:spLocks/>
          </p:cNvSpPr>
          <p:nvPr/>
        </p:nvSpPr>
        <p:spPr>
          <a:xfrm rot="0">
            <a:off x="5120640" y="2852928"/>
            <a:ext cx="402336" cy="40233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8" name="矩形"/>
          <p:cNvSpPr>
            <a:spLocks/>
          </p:cNvSpPr>
          <p:nvPr/>
        </p:nvSpPr>
        <p:spPr>
          <a:xfrm rot="0">
            <a:off x="5623560" y="2834640"/>
            <a:ext cx="20116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Peserta MT 3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9" name="矩形"/>
          <p:cNvSpPr>
            <a:spLocks/>
          </p:cNvSpPr>
          <p:nvPr/>
        </p:nvSpPr>
        <p:spPr>
          <a:xfrm rot="0">
            <a:off x="5623560" y="3054095"/>
            <a:ext cx="118871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MT-003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0" name="圆角矩形"/>
          <p:cNvSpPr>
            <a:spLocks/>
          </p:cNvSpPr>
          <p:nvPr/>
        </p:nvSpPr>
        <p:spPr>
          <a:xfrm rot="0">
            <a:off x="7360919" y="2962656"/>
            <a:ext cx="1280159" cy="164592"/>
          </a:xfrm>
          <a:prstGeom prst="roundRect">
            <a:avLst>
              <a:gd name="adj" fmla="val 22222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61" name="圆角矩形"/>
          <p:cNvSpPr>
            <a:spLocks/>
          </p:cNvSpPr>
          <p:nvPr/>
        </p:nvSpPr>
        <p:spPr>
          <a:xfrm rot="0">
            <a:off x="7360919" y="2962656"/>
            <a:ext cx="1144463" cy="164592"/>
          </a:xfrm>
          <a:prstGeom prst="roundRect">
            <a:avLst>
              <a:gd name="adj" fmla="val 22222"/>
            </a:avLst>
          </a:prstGeom>
          <a:solidFill>
            <a:srgbClr val="27AE60"/>
          </a:solidFill>
          <a:ln w="12700" cmpd="sng" cap="flat">
            <a:solidFill>
              <a:srgbClr val="27AE60"/>
            </a:solidFill>
            <a:prstDash val="solid"/>
            <a:round/>
          </a:ln>
        </p:spPr>
      </p:sp>
      <p:sp>
        <p:nvSpPr>
          <p:cNvPr id="362" name="矩形"/>
          <p:cNvSpPr>
            <a:spLocks/>
          </p:cNvSpPr>
          <p:nvPr/>
        </p:nvSpPr>
        <p:spPr>
          <a:xfrm rot="0">
            <a:off x="7360919" y="2816352"/>
            <a:ext cx="128015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7AE6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89.4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3" name="圆角矩形"/>
          <p:cNvSpPr>
            <a:spLocks/>
          </p:cNvSpPr>
          <p:nvPr/>
        </p:nvSpPr>
        <p:spPr>
          <a:xfrm rot="0">
            <a:off x="5029200" y="3438144"/>
            <a:ext cx="3749039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64" name="椭圆"/>
          <p:cNvSpPr>
            <a:spLocks/>
          </p:cNvSpPr>
          <p:nvPr/>
        </p:nvSpPr>
        <p:spPr>
          <a:xfrm rot="0">
            <a:off x="5120640" y="3511296"/>
            <a:ext cx="402336" cy="402336"/>
          </a:xfrm>
          <a:prstGeom prst="ellipse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65" name="矩形"/>
          <p:cNvSpPr>
            <a:spLocks/>
          </p:cNvSpPr>
          <p:nvPr/>
        </p:nvSpPr>
        <p:spPr>
          <a:xfrm rot="0">
            <a:off x="5120640" y="3511296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6" name="矩形"/>
          <p:cNvSpPr>
            <a:spLocks/>
          </p:cNvSpPr>
          <p:nvPr/>
        </p:nvSpPr>
        <p:spPr>
          <a:xfrm rot="0">
            <a:off x="5623560" y="3493008"/>
            <a:ext cx="20116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Peserta MT 4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7" name="矩形"/>
          <p:cNvSpPr>
            <a:spLocks/>
          </p:cNvSpPr>
          <p:nvPr/>
        </p:nvSpPr>
        <p:spPr>
          <a:xfrm rot="0">
            <a:off x="5623560" y="3712464"/>
            <a:ext cx="118871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MT-004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8" name="圆角矩形"/>
          <p:cNvSpPr>
            <a:spLocks/>
          </p:cNvSpPr>
          <p:nvPr/>
        </p:nvSpPr>
        <p:spPr>
          <a:xfrm rot="0">
            <a:off x="7360919" y="3621024"/>
            <a:ext cx="1280159" cy="164592"/>
          </a:xfrm>
          <a:prstGeom prst="roundRect">
            <a:avLst>
              <a:gd name="adj" fmla="val 22222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69" name="圆角矩形"/>
          <p:cNvSpPr>
            <a:spLocks/>
          </p:cNvSpPr>
          <p:nvPr/>
        </p:nvSpPr>
        <p:spPr>
          <a:xfrm rot="0">
            <a:off x="7360919" y="3621024"/>
            <a:ext cx="733531" cy="164592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70" name="矩形"/>
          <p:cNvSpPr>
            <a:spLocks/>
          </p:cNvSpPr>
          <p:nvPr/>
        </p:nvSpPr>
        <p:spPr>
          <a:xfrm rot="0">
            <a:off x="7360919" y="3474720"/>
            <a:ext cx="128015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57.3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1" name="圆角矩形"/>
          <p:cNvSpPr>
            <a:spLocks/>
          </p:cNvSpPr>
          <p:nvPr/>
        </p:nvSpPr>
        <p:spPr>
          <a:xfrm rot="0">
            <a:off x="5029200" y="4096511"/>
            <a:ext cx="3749039" cy="5486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72" name="椭圆"/>
          <p:cNvSpPr>
            <a:spLocks/>
          </p:cNvSpPr>
          <p:nvPr/>
        </p:nvSpPr>
        <p:spPr>
          <a:xfrm rot="0">
            <a:off x="5120640" y="4169664"/>
            <a:ext cx="402336" cy="402336"/>
          </a:xfrm>
          <a:prstGeom prst="ellipse"/>
          <a:solidFill>
            <a:srgbClr val="2980B9"/>
          </a:solidFill>
          <a:ln w="12700" cmpd="sng" cap="flat">
            <a:solidFill>
              <a:srgbClr val="2980B9"/>
            </a:solidFill>
            <a:prstDash val="solid"/>
            <a:round/>
          </a:ln>
        </p:spPr>
      </p:sp>
      <p:sp>
        <p:nvSpPr>
          <p:cNvPr id="373" name="矩形"/>
          <p:cNvSpPr>
            <a:spLocks/>
          </p:cNvSpPr>
          <p:nvPr/>
        </p:nvSpPr>
        <p:spPr>
          <a:xfrm rot="0">
            <a:off x="5120640" y="4169664"/>
            <a:ext cx="402336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4" name="矩形"/>
          <p:cNvSpPr>
            <a:spLocks/>
          </p:cNvSpPr>
          <p:nvPr/>
        </p:nvSpPr>
        <p:spPr>
          <a:xfrm rot="0">
            <a:off x="5623560" y="4151376"/>
            <a:ext cx="201167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Peserta MT 5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5" name="矩形"/>
          <p:cNvSpPr>
            <a:spLocks/>
          </p:cNvSpPr>
          <p:nvPr/>
        </p:nvSpPr>
        <p:spPr>
          <a:xfrm rot="0">
            <a:off x="5623560" y="4370832"/>
            <a:ext cx="118871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MT-005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6" name="圆角矩形"/>
          <p:cNvSpPr>
            <a:spLocks/>
          </p:cNvSpPr>
          <p:nvPr/>
        </p:nvSpPr>
        <p:spPr>
          <a:xfrm rot="0">
            <a:off x="7360919" y="4279392"/>
            <a:ext cx="1280159" cy="164592"/>
          </a:xfrm>
          <a:prstGeom prst="roundRect">
            <a:avLst>
              <a:gd name="adj" fmla="val 22222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377" name="圆角矩形"/>
          <p:cNvSpPr>
            <a:spLocks/>
          </p:cNvSpPr>
          <p:nvPr/>
        </p:nvSpPr>
        <p:spPr>
          <a:xfrm rot="0">
            <a:off x="7360919" y="4279392"/>
            <a:ext cx="1068934" cy="164592"/>
          </a:xfrm>
          <a:prstGeom prst="roundRect">
            <a:avLst>
              <a:gd name="adj" fmla="val 22222"/>
            </a:avLst>
          </a:prstGeom>
          <a:solidFill>
            <a:srgbClr val="2980B9"/>
          </a:solidFill>
          <a:ln w="12700" cmpd="sng" cap="flat">
            <a:solidFill>
              <a:srgbClr val="2980B9"/>
            </a:solidFill>
            <a:prstDash val="solid"/>
            <a:round/>
          </a:ln>
        </p:spPr>
      </p:sp>
      <p:sp>
        <p:nvSpPr>
          <p:cNvPr id="378" name="矩形"/>
          <p:cNvSpPr>
            <a:spLocks/>
          </p:cNvSpPr>
          <p:nvPr/>
        </p:nvSpPr>
        <p:spPr>
          <a:xfrm rot="0">
            <a:off x="7360919" y="4133088"/>
            <a:ext cx="128015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980B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83.5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168477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82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BUDGET PROGRAM MT — 5 PESERTA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3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384" name="圆角矩形"/>
          <p:cNvSpPr>
            <a:spLocks/>
          </p:cNvSpPr>
          <p:nvPr/>
        </p:nvSpPr>
        <p:spPr>
          <a:xfrm rot="0">
            <a:off x="365760" y="105156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385" name="矩形"/>
          <p:cNvSpPr>
            <a:spLocks/>
          </p:cNvSpPr>
          <p:nvPr/>
        </p:nvSpPr>
        <p:spPr>
          <a:xfrm rot="0">
            <a:off x="914400" y="1097280"/>
            <a:ext cx="45720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TOTAL BUDGET PROGRAM MT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6" name="矩形"/>
          <p:cNvSpPr>
            <a:spLocks/>
          </p:cNvSpPr>
          <p:nvPr/>
        </p:nvSpPr>
        <p:spPr>
          <a:xfrm rot="0">
            <a:off x="5029200" y="1078992"/>
            <a:ext cx="347472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Rp 16.855.000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7" name="圆角矩形"/>
          <p:cNvSpPr>
            <a:spLocks/>
          </p:cNvSpPr>
          <p:nvPr/>
        </p:nvSpPr>
        <p:spPr>
          <a:xfrm rot="0">
            <a:off x="274320" y="1920240"/>
            <a:ext cx="2560320" cy="1353312"/>
          </a:xfrm>
          <a:prstGeom prst="roundRect">
            <a:avLst>
              <a:gd name="adj" fmla="val 675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88" name="圆角矩形"/>
          <p:cNvSpPr>
            <a:spLocks/>
          </p:cNvSpPr>
          <p:nvPr/>
        </p:nvSpPr>
        <p:spPr>
          <a:xfrm rot="0">
            <a:off x="274320" y="1920240"/>
            <a:ext cx="2560320" cy="475488"/>
          </a:xfrm>
          <a:prstGeom prst="roundRect">
            <a:avLst>
              <a:gd name="adj" fmla="val 19231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389" name="矩形"/>
          <p:cNvSpPr>
            <a:spLocks/>
          </p:cNvSpPr>
          <p:nvPr/>
        </p:nvSpPr>
        <p:spPr>
          <a:xfrm rot="0">
            <a:off x="274320" y="2240280"/>
            <a:ext cx="2560320" cy="155448"/>
          </a:xfrm>
          <a:prstGeom prst="rect"/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390" name="矩形"/>
          <p:cNvSpPr>
            <a:spLocks/>
          </p:cNvSpPr>
          <p:nvPr/>
        </p:nvSpPr>
        <p:spPr>
          <a:xfrm rot="0">
            <a:off x="365760" y="1975103"/>
            <a:ext cx="2377440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MT Facilities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1" name="矩形"/>
          <p:cNvSpPr>
            <a:spLocks/>
          </p:cNvSpPr>
          <p:nvPr/>
        </p:nvSpPr>
        <p:spPr>
          <a:xfrm rot="0">
            <a:off x="320040" y="2450591"/>
            <a:ext cx="246888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3498D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Rp 7.13Jt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2" name="矩形"/>
          <p:cNvSpPr>
            <a:spLocks/>
          </p:cNvSpPr>
          <p:nvPr/>
        </p:nvSpPr>
        <p:spPr>
          <a:xfrm rot="0">
            <a:off x="320040" y="2816352"/>
            <a:ext cx="246888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42% dari total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3" name="矩形"/>
          <p:cNvSpPr>
            <a:spLocks/>
          </p:cNvSpPr>
          <p:nvPr/>
        </p:nvSpPr>
        <p:spPr>
          <a:xfrm rot="0">
            <a:off x="365760" y="2999232"/>
            <a:ext cx="2377440" cy="246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Akomodasi, konsumsi, transport, modul, seragam, graduation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4" name="圆角矩形"/>
          <p:cNvSpPr>
            <a:spLocks/>
          </p:cNvSpPr>
          <p:nvPr/>
        </p:nvSpPr>
        <p:spPr>
          <a:xfrm rot="0">
            <a:off x="3063239" y="1920240"/>
            <a:ext cx="2560320" cy="1353312"/>
          </a:xfrm>
          <a:prstGeom prst="roundRect">
            <a:avLst>
              <a:gd name="adj" fmla="val 675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395" name="圆角矩形"/>
          <p:cNvSpPr>
            <a:spLocks/>
          </p:cNvSpPr>
          <p:nvPr/>
        </p:nvSpPr>
        <p:spPr>
          <a:xfrm rot="0">
            <a:off x="3063239" y="1920240"/>
            <a:ext cx="2560320" cy="475488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96" name="矩形"/>
          <p:cNvSpPr>
            <a:spLocks/>
          </p:cNvSpPr>
          <p:nvPr/>
        </p:nvSpPr>
        <p:spPr>
          <a:xfrm rot="0">
            <a:off x="3063239" y="2240280"/>
            <a:ext cx="2560320" cy="155448"/>
          </a:xfrm>
          <a:prstGeom prst="rect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397" name="矩形"/>
          <p:cNvSpPr>
            <a:spLocks/>
          </p:cNvSpPr>
          <p:nvPr/>
        </p:nvSpPr>
        <p:spPr>
          <a:xfrm rot="0">
            <a:off x="3154680" y="1975103"/>
            <a:ext cx="2377440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Training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8" name="矩形"/>
          <p:cNvSpPr>
            <a:spLocks/>
          </p:cNvSpPr>
          <p:nvPr/>
        </p:nvSpPr>
        <p:spPr>
          <a:xfrm rot="0">
            <a:off x="3108960" y="2450591"/>
            <a:ext cx="2468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C0392B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Rp 3.73Jt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9" name="矩形"/>
          <p:cNvSpPr>
            <a:spLocks/>
          </p:cNvSpPr>
          <p:nvPr/>
        </p:nvSpPr>
        <p:spPr>
          <a:xfrm rot="0">
            <a:off x="3108960" y="2816352"/>
            <a:ext cx="246887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22% dari total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0" name="矩形"/>
          <p:cNvSpPr>
            <a:spLocks/>
          </p:cNvSpPr>
          <p:nvPr/>
        </p:nvSpPr>
        <p:spPr>
          <a:xfrm rot="0">
            <a:off x="3154680" y="2999232"/>
            <a:ext cx="2377440" cy="246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Fee trainer &amp; sewa peralatan training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1" name="圆角矩形"/>
          <p:cNvSpPr>
            <a:spLocks/>
          </p:cNvSpPr>
          <p:nvPr/>
        </p:nvSpPr>
        <p:spPr>
          <a:xfrm rot="0">
            <a:off x="274320" y="3429000"/>
            <a:ext cx="2560320" cy="1353312"/>
          </a:xfrm>
          <a:prstGeom prst="roundRect">
            <a:avLst>
              <a:gd name="adj" fmla="val 675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02" name="圆角矩形"/>
          <p:cNvSpPr>
            <a:spLocks/>
          </p:cNvSpPr>
          <p:nvPr/>
        </p:nvSpPr>
        <p:spPr>
          <a:xfrm rot="0">
            <a:off x="274320" y="3429000"/>
            <a:ext cx="2560320" cy="475487"/>
          </a:xfrm>
          <a:prstGeom prst="roundRect">
            <a:avLst>
              <a:gd name="adj" fmla="val 19231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403" name="矩形"/>
          <p:cNvSpPr>
            <a:spLocks/>
          </p:cNvSpPr>
          <p:nvPr/>
        </p:nvSpPr>
        <p:spPr>
          <a:xfrm rot="0">
            <a:off x="274320" y="3749040"/>
            <a:ext cx="2560320" cy="155448"/>
          </a:xfrm>
          <a:prstGeom prst="rect"/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404" name="矩形"/>
          <p:cNvSpPr>
            <a:spLocks/>
          </p:cNvSpPr>
          <p:nvPr/>
        </p:nvSpPr>
        <p:spPr>
          <a:xfrm rot="0">
            <a:off x="365760" y="3483863"/>
            <a:ext cx="2377440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5" name="矩形"/>
          <p:cNvSpPr>
            <a:spLocks/>
          </p:cNvSpPr>
          <p:nvPr/>
        </p:nvSpPr>
        <p:spPr>
          <a:xfrm rot="0">
            <a:off x="320040" y="3959352"/>
            <a:ext cx="246888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E67E2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Rp 2.75Jt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6" name="矩形"/>
          <p:cNvSpPr>
            <a:spLocks/>
          </p:cNvSpPr>
          <p:nvPr/>
        </p:nvSpPr>
        <p:spPr>
          <a:xfrm rot="0">
            <a:off x="320040" y="4325112"/>
            <a:ext cx="246888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16% dari total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7" name="矩形"/>
          <p:cNvSpPr>
            <a:spLocks/>
          </p:cNvSpPr>
          <p:nvPr/>
        </p:nvSpPr>
        <p:spPr>
          <a:xfrm rot="0">
            <a:off x="365760" y="4507992"/>
            <a:ext cx="2377440" cy="246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Mentor allowance, seragam OJT, transport rotasi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8" name="圆角矩形"/>
          <p:cNvSpPr>
            <a:spLocks/>
          </p:cNvSpPr>
          <p:nvPr/>
        </p:nvSpPr>
        <p:spPr>
          <a:xfrm rot="0">
            <a:off x="3063239" y="3429000"/>
            <a:ext cx="2560320" cy="1353312"/>
          </a:xfrm>
          <a:prstGeom prst="roundRect">
            <a:avLst>
              <a:gd name="adj" fmla="val 675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09" name="圆角矩形"/>
          <p:cNvSpPr>
            <a:spLocks/>
          </p:cNvSpPr>
          <p:nvPr/>
        </p:nvSpPr>
        <p:spPr>
          <a:xfrm rot="0">
            <a:off x="3063239" y="3429000"/>
            <a:ext cx="2560320" cy="475487"/>
          </a:xfrm>
          <a:prstGeom prst="roundRect">
            <a:avLst>
              <a:gd name="adj" fmla="val 19231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410" name="矩形"/>
          <p:cNvSpPr>
            <a:spLocks/>
          </p:cNvSpPr>
          <p:nvPr/>
        </p:nvSpPr>
        <p:spPr>
          <a:xfrm rot="0">
            <a:off x="3063239" y="3749040"/>
            <a:ext cx="2560320" cy="155448"/>
          </a:xfrm>
          <a:prstGeom prst="rect"/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411" name="矩形"/>
          <p:cNvSpPr>
            <a:spLocks/>
          </p:cNvSpPr>
          <p:nvPr/>
        </p:nvSpPr>
        <p:spPr>
          <a:xfrm rot="0">
            <a:off x="3154680" y="3483863"/>
            <a:ext cx="2377440" cy="4023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Comprehension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2" name="矩形"/>
          <p:cNvSpPr>
            <a:spLocks/>
          </p:cNvSpPr>
          <p:nvPr/>
        </p:nvSpPr>
        <p:spPr>
          <a:xfrm rot="0">
            <a:off x="3108960" y="3959352"/>
            <a:ext cx="24688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9B59B6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Rp 3.25Jt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3" name="矩形"/>
          <p:cNvSpPr>
            <a:spLocks/>
          </p:cNvSpPr>
          <p:nvPr/>
        </p:nvSpPr>
        <p:spPr>
          <a:xfrm rot="0">
            <a:off x="3108960" y="4325112"/>
            <a:ext cx="246887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20% dari total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4" name="矩形"/>
          <p:cNvSpPr>
            <a:spLocks/>
          </p:cNvSpPr>
          <p:nvPr/>
        </p:nvSpPr>
        <p:spPr>
          <a:xfrm rot="0">
            <a:off x="3154680" y="4507992"/>
            <a:ext cx="2377440" cy="2468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Sewa tempat, fee juri, plakat &amp; sertifikat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8700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18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PROGRAM ONBOARDING — CREW OUTLET &amp; STAFF HO</a:t>
            </a:r>
            <a:endParaRPr lang="zh-CN" altLang="en-US" sz="2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9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420" name="圆角矩形"/>
          <p:cNvSpPr>
            <a:spLocks/>
          </p:cNvSpPr>
          <p:nvPr/>
        </p:nvSpPr>
        <p:spPr>
          <a:xfrm rot="0">
            <a:off x="365760" y="1051560"/>
            <a:ext cx="8412480" cy="685799"/>
          </a:xfrm>
          <a:prstGeom prst="roundRect">
            <a:avLst>
              <a:gd name="adj" fmla="val 10666"/>
            </a:avLst>
          </a:prstGeom>
          <a:solidFill>
            <a:srgbClr val="C0392B">
              <a:alpha val="10000"/>
            </a:srgbClr>
          </a:solidFill>
          <a:ln w="12700" cmpd="sng" cap="flat">
            <a:solidFill>
              <a:srgbClr val="C0392B">
                <a:alpha val="40000"/>
              </a:srgbClr>
            </a:solidFill>
            <a:prstDash val="solid"/>
            <a:round/>
          </a:ln>
        </p:spPr>
      </p:sp>
      <p:sp>
        <p:nvSpPr>
          <p:cNvPr id="421" name="矩形"/>
          <p:cNvSpPr>
            <a:spLocks/>
          </p:cNvSpPr>
          <p:nvPr/>
        </p:nvSpPr>
        <p:spPr>
          <a:xfrm rot="0">
            <a:off x="548640" y="1124712"/>
            <a:ext cx="804671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Program pembekalan 3 bulan bagi karyawan baru: 2 hari In Class Training + 3 bulan OJT/Masa Probation dengan pendampingan mentor (Buddy System).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2" name="圆角矩形"/>
          <p:cNvSpPr>
            <a:spLocks/>
          </p:cNvSpPr>
          <p:nvPr/>
        </p:nvSpPr>
        <p:spPr>
          <a:xfrm rot="0">
            <a:off x="274320" y="187452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23" name="圆角矩形"/>
          <p:cNvSpPr>
            <a:spLocks/>
          </p:cNvSpPr>
          <p:nvPr/>
        </p:nvSpPr>
        <p:spPr>
          <a:xfrm rot="0">
            <a:off x="338328" y="1965960"/>
            <a:ext cx="658368" cy="347472"/>
          </a:xfrm>
          <a:prstGeom prst="roundRect">
            <a:avLst>
              <a:gd name="adj" fmla="val 10527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424" name="矩形"/>
          <p:cNvSpPr>
            <a:spLocks/>
          </p:cNvSpPr>
          <p:nvPr/>
        </p:nvSpPr>
        <p:spPr>
          <a:xfrm rot="0">
            <a:off x="338328" y="1965960"/>
            <a:ext cx="658368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 Jam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5" name="矩形"/>
          <p:cNvSpPr>
            <a:spLocks/>
          </p:cNvSpPr>
          <p:nvPr/>
        </p:nvSpPr>
        <p:spPr>
          <a:xfrm rot="0">
            <a:off x="1069848" y="1911096"/>
            <a:ext cx="3200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3498D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- Onboarding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6" name="矩形"/>
          <p:cNvSpPr>
            <a:spLocks/>
          </p:cNvSpPr>
          <p:nvPr/>
        </p:nvSpPr>
        <p:spPr>
          <a:xfrm rot="0">
            <a:off x="1069848" y="212140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Company Profile, Peraturan, K3, HRIS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7" name="圆角矩形"/>
          <p:cNvSpPr>
            <a:spLocks/>
          </p:cNvSpPr>
          <p:nvPr/>
        </p:nvSpPr>
        <p:spPr>
          <a:xfrm rot="0">
            <a:off x="274320" y="251460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28" name="圆角矩形"/>
          <p:cNvSpPr>
            <a:spLocks/>
          </p:cNvSpPr>
          <p:nvPr/>
        </p:nvSpPr>
        <p:spPr>
          <a:xfrm rot="0">
            <a:off x="338328" y="2606040"/>
            <a:ext cx="658368" cy="347472"/>
          </a:xfrm>
          <a:prstGeom prst="roundRect">
            <a:avLst>
              <a:gd name="adj" fmla="val 10527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429" name="矩形"/>
          <p:cNvSpPr>
            <a:spLocks/>
          </p:cNvSpPr>
          <p:nvPr/>
        </p:nvSpPr>
        <p:spPr>
          <a:xfrm rot="0">
            <a:off x="338328" y="2606040"/>
            <a:ext cx="658368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 Jam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0" name="矩形"/>
          <p:cNvSpPr>
            <a:spLocks/>
          </p:cNvSpPr>
          <p:nvPr/>
        </p:nvSpPr>
        <p:spPr>
          <a:xfrm rot="0">
            <a:off x="1069848" y="255117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9B59B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- Product Know.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1" name="矩形"/>
          <p:cNvSpPr>
            <a:spLocks/>
          </p:cNvSpPr>
          <p:nvPr/>
        </p:nvSpPr>
        <p:spPr>
          <a:xfrm rot="0">
            <a:off x="1069848" y="276148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Menu, SOP Standar Rasa &amp; Penyajian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2" name="圆角矩形"/>
          <p:cNvSpPr>
            <a:spLocks/>
          </p:cNvSpPr>
          <p:nvPr/>
        </p:nvSpPr>
        <p:spPr>
          <a:xfrm rot="0">
            <a:off x="274320" y="315468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33" name="圆角矩形"/>
          <p:cNvSpPr>
            <a:spLocks/>
          </p:cNvSpPr>
          <p:nvPr/>
        </p:nvSpPr>
        <p:spPr>
          <a:xfrm rot="0">
            <a:off x="338328" y="3246120"/>
            <a:ext cx="658368" cy="347472"/>
          </a:xfrm>
          <a:prstGeom prst="roundRect">
            <a:avLst>
              <a:gd name="adj" fmla="val 10527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434" name="矩形"/>
          <p:cNvSpPr>
            <a:spLocks/>
          </p:cNvSpPr>
          <p:nvPr/>
        </p:nvSpPr>
        <p:spPr>
          <a:xfrm rot="0">
            <a:off x="338328" y="3246120"/>
            <a:ext cx="658368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Jam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5" name="矩形"/>
          <p:cNvSpPr>
            <a:spLocks/>
          </p:cNvSpPr>
          <p:nvPr/>
        </p:nvSpPr>
        <p:spPr>
          <a:xfrm rot="0">
            <a:off x="1069848" y="319125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- Technical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6" name="矩形"/>
          <p:cNvSpPr>
            <a:spLocks/>
          </p:cNvSpPr>
          <p:nvPr/>
        </p:nvSpPr>
        <p:spPr>
          <a:xfrm rot="0">
            <a:off x="1069848" y="340156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SOP Dapur, Food Safety, HACCP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7" name="圆角矩形"/>
          <p:cNvSpPr>
            <a:spLocks/>
          </p:cNvSpPr>
          <p:nvPr/>
        </p:nvSpPr>
        <p:spPr>
          <a:xfrm rot="0">
            <a:off x="274320" y="379476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38" name="圆角矩形"/>
          <p:cNvSpPr>
            <a:spLocks/>
          </p:cNvSpPr>
          <p:nvPr/>
        </p:nvSpPr>
        <p:spPr>
          <a:xfrm rot="0">
            <a:off x="338328" y="3886200"/>
            <a:ext cx="658368" cy="347472"/>
          </a:xfrm>
          <a:prstGeom prst="roundRect">
            <a:avLst>
              <a:gd name="adj" fmla="val 10527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439" name="矩形"/>
          <p:cNvSpPr>
            <a:spLocks/>
          </p:cNvSpPr>
          <p:nvPr/>
        </p:nvSpPr>
        <p:spPr>
          <a:xfrm rot="0">
            <a:off x="338328" y="3886200"/>
            <a:ext cx="658368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Jam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0" name="矩形"/>
          <p:cNvSpPr>
            <a:spLocks/>
          </p:cNvSpPr>
          <p:nvPr/>
        </p:nvSpPr>
        <p:spPr>
          <a:xfrm rot="0">
            <a:off x="1069848" y="383133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- Technical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1" name="矩形"/>
          <p:cNvSpPr>
            <a:spLocks/>
          </p:cNvSpPr>
          <p:nvPr/>
        </p:nvSpPr>
        <p:spPr>
          <a:xfrm rot="0">
            <a:off x="1069848" y="404164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SOP Kasir, POS, Service Excellence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2" name="圆角矩形"/>
          <p:cNvSpPr>
            <a:spLocks/>
          </p:cNvSpPr>
          <p:nvPr/>
        </p:nvSpPr>
        <p:spPr>
          <a:xfrm rot="0">
            <a:off x="274320" y="443484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43" name="圆角矩形"/>
          <p:cNvSpPr>
            <a:spLocks/>
          </p:cNvSpPr>
          <p:nvPr/>
        </p:nvSpPr>
        <p:spPr>
          <a:xfrm rot="0">
            <a:off x="338328" y="4526280"/>
            <a:ext cx="658368" cy="347472"/>
          </a:xfrm>
          <a:prstGeom prst="roundRect">
            <a:avLst>
              <a:gd name="adj" fmla="val 10527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444" name="矩形"/>
          <p:cNvSpPr>
            <a:spLocks/>
          </p:cNvSpPr>
          <p:nvPr/>
        </p:nvSpPr>
        <p:spPr>
          <a:xfrm rot="0">
            <a:off x="338328" y="4526280"/>
            <a:ext cx="658368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Jam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5" name="矩形"/>
          <p:cNvSpPr>
            <a:spLocks/>
          </p:cNvSpPr>
          <p:nvPr/>
        </p:nvSpPr>
        <p:spPr>
          <a:xfrm rot="0">
            <a:off x="1069848" y="447141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- Technical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6" name="矩形"/>
          <p:cNvSpPr>
            <a:spLocks/>
          </p:cNvSpPr>
          <p:nvPr/>
        </p:nvSpPr>
        <p:spPr>
          <a:xfrm rot="0">
            <a:off x="1069848" y="468172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Pencatatan Keuangan &amp; Sistem Akuntansi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7" name="圆角矩形"/>
          <p:cNvSpPr>
            <a:spLocks/>
          </p:cNvSpPr>
          <p:nvPr/>
        </p:nvSpPr>
        <p:spPr>
          <a:xfrm rot="0">
            <a:off x="4709160" y="187452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48" name="圆角矩形"/>
          <p:cNvSpPr>
            <a:spLocks/>
          </p:cNvSpPr>
          <p:nvPr/>
        </p:nvSpPr>
        <p:spPr>
          <a:xfrm rot="0">
            <a:off x="4773168" y="1965960"/>
            <a:ext cx="658367" cy="347472"/>
          </a:xfrm>
          <a:prstGeom prst="roundRect">
            <a:avLst>
              <a:gd name="adj" fmla="val 10527"/>
            </a:avLst>
          </a:prstGeom>
          <a:solidFill>
            <a:srgbClr val="16A085"/>
          </a:solidFill>
          <a:ln w="12700" cmpd="sng" cap="flat">
            <a:solidFill>
              <a:srgbClr val="16A085"/>
            </a:solidFill>
            <a:prstDash val="solid"/>
            <a:round/>
          </a:ln>
        </p:spPr>
      </p:sp>
      <p:sp>
        <p:nvSpPr>
          <p:cNvPr id="449" name="矩形"/>
          <p:cNvSpPr>
            <a:spLocks/>
          </p:cNvSpPr>
          <p:nvPr/>
        </p:nvSpPr>
        <p:spPr>
          <a:xfrm rot="0">
            <a:off x="4773168" y="1965960"/>
            <a:ext cx="658367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 Jam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0" name="矩形"/>
          <p:cNvSpPr>
            <a:spLocks/>
          </p:cNvSpPr>
          <p:nvPr/>
        </p:nvSpPr>
        <p:spPr>
          <a:xfrm rot="0">
            <a:off x="5504688" y="1911096"/>
            <a:ext cx="3200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16A08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- Soft Skill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1" name="矩形"/>
          <p:cNvSpPr>
            <a:spLocks/>
          </p:cNvSpPr>
          <p:nvPr/>
        </p:nvSpPr>
        <p:spPr>
          <a:xfrm rot="0">
            <a:off x="5504688" y="212140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Komunikasi, Teamwork &amp; Problem Solving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2" name="圆角矩形"/>
          <p:cNvSpPr>
            <a:spLocks/>
          </p:cNvSpPr>
          <p:nvPr/>
        </p:nvSpPr>
        <p:spPr>
          <a:xfrm rot="0">
            <a:off x="4709160" y="251460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53" name="圆角矩形"/>
          <p:cNvSpPr>
            <a:spLocks/>
          </p:cNvSpPr>
          <p:nvPr/>
        </p:nvSpPr>
        <p:spPr>
          <a:xfrm rot="0">
            <a:off x="4773168" y="2606040"/>
            <a:ext cx="658367" cy="347472"/>
          </a:xfrm>
          <a:prstGeom prst="roundRect">
            <a:avLst>
              <a:gd name="adj" fmla="val 10527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454" name="矩形"/>
          <p:cNvSpPr>
            <a:spLocks/>
          </p:cNvSpPr>
          <p:nvPr/>
        </p:nvSpPr>
        <p:spPr>
          <a:xfrm rot="0">
            <a:off x="4773168" y="2606040"/>
            <a:ext cx="658367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Bln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5" name="矩形"/>
          <p:cNvSpPr>
            <a:spLocks/>
          </p:cNvSpPr>
          <p:nvPr/>
        </p:nvSpPr>
        <p:spPr>
          <a:xfrm rot="0">
            <a:off x="5504688" y="255117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E67E2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Bulan 1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6" name="矩形"/>
          <p:cNvSpPr>
            <a:spLocks/>
          </p:cNvSpPr>
          <p:nvPr/>
        </p:nvSpPr>
        <p:spPr>
          <a:xfrm rot="0">
            <a:off x="5504688" y="276148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Pendampingan Mentor (Buddy System)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7" name="圆角矩形"/>
          <p:cNvSpPr>
            <a:spLocks/>
          </p:cNvSpPr>
          <p:nvPr/>
        </p:nvSpPr>
        <p:spPr>
          <a:xfrm rot="0">
            <a:off x="4709160" y="315468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58" name="圆角矩形"/>
          <p:cNvSpPr>
            <a:spLocks/>
          </p:cNvSpPr>
          <p:nvPr/>
        </p:nvSpPr>
        <p:spPr>
          <a:xfrm rot="0">
            <a:off x="4773168" y="3246120"/>
            <a:ext cx="658367" cy="347472"/>
          </a:xfrm>
          <a:prstGeom prst="roundRect">
            <a:avLst>
              <a:gd name="adj" fmla="val 10527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459" name="矩形"/>
          <p:cNvSpPr>
            <a:spLocks/>
          </p:cNvSpPr>
          <p:nvPr/>
        </p:nvSpPr>
        <p:spPr>
          <a:xfrm rot="0">
            <a:off x="4773168" y="3246120"/>
            <a:ext cx="658367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Bln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0" name="矩形"/>
          <p:cNvSpPr>
            <a:spLocks/>
          </p:cNvSpPr>
          <p:nvPr/>
        </p:nvSpPr>
        <p:spPr>
          <a:xfrm rot="0">
            <a:off x="5504688" y="319125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E67E2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Bulan 2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1" name="矩形"/>
          <p:cNvSpPr>
            <a:spLocks/>
          </p:cNvSpPr>
          <p:nvPr/>
        </p:nvSpPr>
        <p:spPr>
          <a:xfrm rot="0">
            <a:off x="5504688" y="340156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Praktik Mandiri dengan Supervisi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2" name="圆角矩形"/>
          <p:cNvSpPr>
            <a:spLocks/>
          </p:cNvSpPr>
          <p:nvPr/>
        </p:nvSpPr>
        <p:spPr>
          <a:xfrm rot="0">
            <a:off x="4709160" y="379476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 cmpd="sng" cap="flat">
            <a:solidFill>
              <a:srgbClr val="E0E0EE"/>
            </a:solidFill>
            <a:prstDash val="solid"/>
            <a:round/>
          </a:ln>
          <a:effectLst>
            <a:outerShdw sx="100000" sy="100000" algn="bl" rotWithShape="0" blurRad="101600" dist="38100" dir="2700000">
              <a:srgbClr val="000000">
                <a:alpha val="11764"/>
              </a:srgbClr>
            </a:outerShdw>
          </a:effectLst>
        </p:spPr>
      </p:sp>
      <p:sp>
        <p:nvSpPr>
          <p:cNvPr id="463" name="圆角矩形"/>
          <p:cNvSpPr>
            <a:spLocks/>
          </p:cNvSpPr>
          <p:nvPr/>
        </p:nvSpPr>
        <p:spPr>
          <a:xfrm rot="0">
            <a:off x="4773168" y="3886200"/>
            <a:ext cx="658367" cy="347472"/>
          </a:xfrm>
          <a:prstGeom prst="roundRect">
            <a:avLst>
              <a:gd name="adj" fmla="val 10527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464" name="矩形"/>
          <p:cNvSpPr>
            <a:spLocks/>
          </p:cNvSpPr>
          <p:nvPr/>
        </p:nvSpPr>
        <p:spPr>
          <a:xfrm rot="0">
            <a:off x="4773168" y="3886200"/>
            <a:ext cx="658367" cy="3474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Bln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5" name="矩形"/>
          <p:cNvSpPr>
            <a:spLocks/>
          </p:cNvSpPr>
          <p:nvPr/>
        </p:nvSpPr>
        <p:spPr>
          <a:xfrm rot="0">
            <a:off x="5504688" y="3831336"/>
            <a:ext cx="3200400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1" i="0" u="none" strike="noStrike" kern="1200" cap="none" spc="0" baseline="0">
                <a:solidFill>
                  <a:srgbClr val="E67E2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Bulan 3</a:t>
            </a:r>
            <a:endParaRPr lang="zh-CN" altLang="en-US" sz="8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6" name="矩形"/>
          <p:cNvSpPr>
            <a:spLocks/>
          </p:cNvSpPr>
          <p:nvPr/>
        </p:nvSpPr>
        <p:spPr>
          <a:xfrm rot="0">
            <a:off x="5504688" y="4041648"/>
            <a:ext cx="3200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Praktik Penuh &amp; Evaluasi Akhir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656760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矩形"/>
          <p:cNvSpPr>
            <a:spLocks/>
          </p:cNvSpPr>
          <p:nvPr/>
        </p:nvSpPr>
        <p:spPr>
          <a:xfrm rot="0">
            <a:off x="0" y="0"/>
            <a:ext cx="9144000" cy="960120"/>
          </a:xfrm>
          <a:prstGeom prst="rect"/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470" name="矩形"/>
          <p:cNvSpPr>
            <a:spLocks/>
          </p:cNvSpPr>
          <p:nvPr/>
        </p:nvSpPr>
        <p:spPr>
          <a:xfrm rot="0">
            <a:off x="457200" y="201168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TIMELINE ONBOARDING &amp; BUDGET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1" name="矩形"/>
          <p:cNvSpPr>
            <a:spLocks/>
          </p:cNvSpPr>
          <p:nvPr/>
        </p:nvSpPr>
        <p:spPr>
          <a:xfrm rot="0">
            <a:off x="0" y="896112"/>
            <a:ext cx="9144000" cy="54863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472" name="矩形"/>
          <p:cNvSpPr>
            <a:spLocks/>
          </p:cNvSpPr>
          <p:nvPr/>
        </p:nvSpPr>
        <p:spPr>
          <a:xfrm rot="0">
            <a:off x="365760" y="1024127"/>
            <a:ext cx="5029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TIMELINE 12 MINGGU (MASA PROBATION)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3" name="矩形"/>
          <p:cNvSpPr>
            <a:spLocks/>
          </p:cNvSpPr>
          <p:nvPr/>
        </p:nvSpPr>
        <p:spPr>
          <a:xfrm rot="0">
            <a:off x="2697480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74" name="矩形"/>
          <p:cNvSpPr>
            <a:spLocks/>
          </p:cNvSpPr>
          <p:nvPr/>
        </p:nvSpPr>
        <p:spPr>
          <a:xfrm rot="0">
            <a:off x="2697480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M1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5" name="矩形"/>
          <p:cNvSpPr>
            <a:spLocks/>
          </p:cNvSpPr>
          <p:nvPr/>
        </p:nvSpPr>
        <p:spPr>
          <a:xfrm rot="0">
            <a:off x="3072384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76" name="矩形"/>
          <p:cNvSpPr>
            <a:spLocks/>
          </p:cNvSpPr>
          <p:nvPr/>
        </p:nvSpPr>
        <p:spPr>
          <a:xfrm rot="0">
            <a:off x="3072384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M2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7" name="矩形"/>
          <p:cNvSpPr>
            <a:spLocks/>
          </p:cNvSpPr>
          <p:nvPr/>
        </p:nvSpPr>
        <p:spPr>
          <a:xfrm rot="0">
            <a:off x="3447288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78" name="矩形"/>
          <p:cNvSpPr>
            <a:spLocks/>
          </p:cNvSpPr>
          <p:nvPr/>
        </p:nvSpPr>
        <p:spPr>
          <a:xfrm rot="0">
            <a:off x="3447288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M3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9" name="矩形"/>
          <p:cNvSpPr>
            <a:spLocks/>
          </p:cNvSpPr>
          <p:nvPr/>
        </p:nvSpPr>
        <p:spPr>
          <a:xfrm rot="0">
            <a:off x="3822192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80" name="矩形"/>
          <p:cNvSpPr>
            <a:spLocks/>
          </p:cNvSpPr>
          <p:nvPr/>
        </p:nvSpPr>
        <p:spPr>
          <a:xfrm rot="0">
            <a:off x="3822192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M4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1" name="矩形"/>
          <p:cNvSpPr>
            <a:spLocks/>
          </p:cNvSpPr>
          <p:nvPr/>
        </p:nvSpPr>
        <p:spPr>
          <a:xfrm rot="0">
            <a:off x="4197096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82" name="矩形"/>
          <p:cNvSpPr>
            <a:spLocks/>
          </p:cNvSpPr>
          <p:nvPr/>
        </p:nvSpPr>
        <p:spPr>
          <a:xfrm rot="0">
            <a:off x="4197096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M5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3" name="矩形"/>
          <p:cNvSpPr>
            <a:spLocks/>
          </p:cNvSpPr>
          <p:nvPr/>
        </p:nvSpPr>
        <p:spPr>
          <a:xfrm rot="0">
            <a:off x="4572000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84" name="矩形"/>
          <p:cNvSpPr>
            <a:spLocks/>
          </p:cNvSpPr>
          <p:nvPr/>
        </p:nvSpPr>
        <p:spPr>
          <a:xfrm rot="0">
            <a:off x="4572000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M6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5" name="矩形"/>
          <p:cNvSpPr>
            <a:spLocks/>
          </p:cNvSpPr>
          <p:nvPr/>
        </p:nvSpPr>
        <p:spPr>
          <a:xfrm rot="0">
            <a:off x="4946904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86" name="矩形"/>
          <p:cNvSpPr>
            <a:spLocks/>
          </p:cNvSpPr>
          <p:nvPr/>
        </p:nvSpPr>
        <p:spPr>
          <a:xfrm rot="0">
            <a:off x="4946904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M7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7" name="矩形"/>
          <p:cNvSpPr>
            <a:spLocks/>
          </p:cNvSpPr>
          <p:nvPr/>
        </p:nvSpPr>
        <p:spPr>
          <a:xfrm rot="0">
            <a:off x="5321808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88" name="矩形"/>
          <p:cNvSpPr>
            <a:spLocks/>
          </p:cNvSpPr>
          <p:nvPr/>
        </p:nvSpPr>
        <p:spPr>
          <a:xfrm rot="0">
            <a:off x="5321808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M8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9" name="矩形"/>
          <p:cNvSpPr>
            <a:spLocks/>
          </p:cNvSpPr>
          <p:nvPr/>
        </p:nvSpPr>
        <p:spPr>
          <a:xfrm rot="0">
            <a:off x="5696712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90" name="矩形"/>
          <p:cNvSpPr>
            <a:spLocks/>
          </p:cNvSpPr>
          <p:nvPr/>
        </p:nvSpPr>
        <p:spPr>
          <a:xfrm rot="0">
            <a:off x="5696712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M9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1" name="矩形"/>
          <p:cNvSpPr>
            <a:spLocks/>
          </p:cNvSpPr>
          <p:nvPr/>
        </p:nvSpPr>
        <p:spPr>
          <a:xfrm rot="0">
            <a:off x="6071616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92" name="矩形"/>
          <p:cNvSpPr>
            <a:spLocks/>
          </p:cNvSpPr>
          <p:nvPr/>
        </p:nvSpPr>
        <p:spPr>
          <a:xfrm rot="0">
            <a:off x="6071616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M10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3" name="矩形"/>
          <p:cNvSpPr>
            <a:spLocks/>
          </p:cNvSpPr>
          <p:nvPr/>
        </p:nvSpPr>
        <p:spPr>
          <a:xfrm rot="0">
            <a:off x="6446520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94" name="矩形"/>
          <p:cNvSpPr>
            <a:spLocks/>
          </p:cNvSpPr>
          <p:nvPr/>
        </p:nvSpPr>
        <p:spPr>
          <a:xfrm rot="0">
            <a:off x="6446520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M11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5" name="矩形"/>
          <p:cNvSpPr>
            <a:spLocks/>
          </p:cNvSpPr>
          <p:nvPr/>
        </p:nvSpPr>
        <p:spPr>
          <a:xfrm rot="0">
            <a:off x="6821424" y="1371600"/>
            <a:ext cx="365759" cy="237743"/>
          </a:xfrm>
          <a:prstGeom prst="rect"/>
          <a:solidFill>
            <a:srgbClr val="1A1A2E"/>
          </a:solidFill>
          <a:ln w="12700" cmpd="sng" cap="flat">
            <a:solidFill>
              <a:srgbClr val="1A1A2E"/>
            </a:solidFill>
            <a:prstDash val="solid"/>
            <a:round/>
          </a:ln>
        </p:spPr>
      </p:sp>
      <p:sp>
        <p:nvSpPr>
          <p:cNvPr id="496" name="矩形"/>
          <p:cNvSpPr>
            <a:spLocks/>
          </p:cNvSpPr>
          <p:nvPr/>
        </p:nvSpPr>
        <p:spPr>
          <a:xfrm rot="0">
            <a:off x="6821424" y="1371600"/>
            <a:ext cx="374903" cy="2377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M12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7" name="矩形"/>
          <p:cNvSpPr>
            <a:spLocks/>
          </p:cNvSpPr>
          <p:nvPr/>
        </p:nvSpPr>
        <p:spPr>
          <a:xfrm rot="0">
            <a:off x="274320" y="1627632"/>
            <a:ext cx="6903720" cy="301751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498" name="矩形"/>
          <p:cNvSpPr>
            <a:spLocks/>
          </p:cNvSpPr>
          <p:nvPr/>
        </p:nvSpPr>
        <p:spPr>
          <a:xfrm rot="0">
            <a:off x="320040" y="167335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Training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9" name="矩形"/>
          <p:cNvSpPr>
            <a:spLocks/>
          </p:cNvSpPr>
          <p:nvPr/>
        </p:nvSpPr>
        <p:spPr>
          <a:xfrm rot="0">
            <a:off x="2423160" y="167335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 Hari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0" name="圆角矩形"/>
          <p:cNvSpPr>
            <a:spLocks/>
          </p:cNvSpPr>
          <p:nvPr/>
        </p:nvSpPr>
        <p:spPr>
          <a:xfrm rot="0">
            <a:off x="2697480" y="1682496"/>
            <a:ext cx="347472" cy="192024"/>
          </a:xfrm>
          <a:prstGeom prst="roundRect">
            <a:avLst>
              <a:gd name="adj" fmla="val 14287"/>
            </a:avLst>
          </a:prstGeom>
          <a:solidFill>
            <a:srgbClr val="3498DB"/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sp>
        <p:nvSpPr>
          <p:cNvPr id="501" name="矩形"/>
          <p:cNvSpPr>
            <a:spLocks/>
          </p:cNvSpPr>
          <p:nvPr/>
        </p:nvSpPr>
        <p:spPr>
          <a:xfrm rot="0">
            <a:off x="274320" y="1947672"/>
            <a:ext cx="6903720" cy="301751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02" name="矩形"/>
          <p:cNvSpPr>
            <a:spLocks/>
          </p:cNvSpPr>
          <p:nvPr/>
        </p:nvSpPr>
        <p:spPr>
          <a:xfrm rot="0">
            <a:off x="320040" y="199339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Bulan 1 - Buddy System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3" name="矩形"/>
          <p:cNvSpPr>
            <a:spLocks/>
          </p:cNvSpPr>
          <p:nvPr/>
        </p:nvSpPr>
        <p:spPr>
          <a:xfrm rot="0">
            <a:off x="2423160" y="199339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Mgg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4" name="圆角矩形"/>
          <p:cNvSpPr>
            <a:spLocks/>
          </p:cNvSpPr>
          <p:nvPr/>
        </p:nvSpPr>
        <p:spPr>
          <a:xfrm rot="0">
            <a:off x="2697480" y="2002536"/>
            <a:ext cx="1472183" cy="192024"/>
          </a:xfrm>
          <a:prstGeom prst="roundRect">
            <a:avLst>
              <a:gd name="adj" fmla="val 14287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505" name="矩形"/>
          <p:cNvSpPr>
            <a:spLocks/>
          </p:cNvSpPr>
          <p:nvPr/>
        </p:nvSpPr>
        <p:spPr>
          <a:xfrm rot="0">
            <a:off x="274320" y="2267712"/>
            <a:ext cx="6903720" cy="301751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06" name="矩形"/>
          <p:cNvSpPr>
            <a:spLocks/>
          </p:cNvSpPr>
          <p:nvPr/>
        </p:nvSpPr>
        <p:spPr>
          <a:xfrm rot="0">
            <a:off x="320040" y="231343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Evaluasi Bulan 1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7" name="矩形"/>
          <p:cNvSpPr>
            <a:spLocks/>
          </p:cNvSpPr>
          <p:nvPr/>
        </p:nvSpPr>
        <p:spPr>
          <a:xfrm rot="0">
            <a:off x="2423160" y="231343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Hari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8" name="圆角矩形"/>
          <p:cNvSpPr>
            <a:spLocks/>
          </p:cNvSpPr>
          <p:nvPr/>
        </p:nvSpPr>
        <p:spPr>
          <a:xfrm rot="0">
            <a:off x="3822192" y="2322576"/>
            <a:ext cx="347472" cy="192024"/>
          </a:xfrm>
          <a:prstGeom prst="roundRect">
            <a:avLst>
              <a:gd name="adj" fmla="val 14287"/>
            </a:avLst>
          </a:prstGeom>
          <a:solidFill>
            <a:srgbClr val="27AE60"/>
          </a:solidFill>
          <a:ln w="12700" cmpd="sng" cap="flat">
            <a:solidFill>
              <a:srgbClr val="27AE60"/>
            </a:solidFill>
            <a:prstDash val="solid"/>
            <a:round/>
          </a:ln>
        </p:spPr>
      </p:sp>
      <p:sp>
        <p:nvSpPr>
          <p:cNvPr id="509" name="矩形"/>
          <p:cNvSpPr>
            <a:spLocks/>
          </p:cNvSpPr>
          <p:nvPr/>
        </p:nvSpPr>
        <p:spPr>
          <a:xfrm rot="0">
            <a:off x="274320" y="2587752"/>
            <a:ext cx="6903720" cy="301751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10" name="矩形"/>
          <p:cNvSpPr>
            <a:spLocks/>
          </p:cNvSpPr>
          <p:nvPr/>
        </p:nvSpPr>
        <p:spPr>
          <a:xfrm rot="0">
            <a:off x="320040" y="263347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Bulan 2 - Praktik Mandiri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1" name="矩形"/>
          <p:cNvSpPr>
            <a:spLocks/>
          </p:cNvSpPr>
          <p:nvPr/>
        </p:nvSpPr>
        <p:spPr>
          <a:xfrm rot="0">
            <a:off x="2423160" y="263347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Mgg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2" name="圆角矩形"/>
          <p:cNvSpPr>
            <a:spLocks/>
          </p:cNvSpPr>
          <p:nvPr/>
        </p:nvSpPr>
        <p:spPr>
          <a:xfrm rot="0">
            <a:off x="4197096" y="2642616"/>
            <a:ext cx="1472183" cy="192024"/>
          </a:xfrm>
          <a:prstGeom prst="roundRect">
            <a:avLst>
              <a:gd name="adj" fmla="val 14287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513" name="矩形"/>
          <p:cNvSpPr>
            <a:spLocks/>
          </p:cNvSpPr>
          <p:nvPr/>
        </p:nvSpPr>
        <p:spPr>
          <a:xfrm rot="0">
            <a:off x="274320" y="2907792"/>
            <a:ext cx="6903720" cy="301751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14" name="矩形"/>
          <p:cNvSpPr>
            <a:spLocks/>
          </p:cNvSpPr>
          <p:nvPr/>
        </p:nvSpPr>
        <p:spPr>
          <a:xfrm rot="0">
            <a:off x="320040" y="295351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Evaluasi Bulan 2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5" name="矩形"/>
          <p:cNvSpPr>
            <a:spLocks/>
          </p:cNvSpPr>
          <p:nvPr/>
        </p:nvSpPr>
        <p:spPr>
          <a:xfrm rot="0">
            <a:off x="2423160" y="295351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Hari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6" name="圆角矩形"/>
          <p:cNvSpPr>
            <a:spLocks/>
          </p:cNvSpPr>
          <p:nvPr/>
        </p:nvSpPr>
        <p:spPr>
          <a:xfrm rot="0">
            <a:off x="5321808" y="2962656"/>
            <a:ext cx="347471" cy="192024"/>
          </a:xfrm>
          <a:prstGeom prst="roundRect">
            <a:avLst>
              <a:gd name="adj" fmla="val 14287"/>
            </a:avLst>
          </a:prstGeom>
          <a:solidFill>
            <a:srgbClr val="27AE60"/>
          </a:solidFill>
          <a:ln w="12700" cmpd="sng" cap="flat">
            <a:solidFill>
              <a:srgbClr val="27AE60"/>
            </a:solidFill>
            <a:prstDash val="solid"/>
            <a:round/>
          </a:ln>
        </p:spPr>
      </p:sp>
      <p:sp>
        <p:nvSpPr>
          <p:cNvPr id="517" name="矩形"/>
          <p:cNvSpPr>
            <a:spLocks/>
          </p:cNvSpPr>
          <p:nvPr/>
        </p:nvSpPr>
        <p:spPr>
          <a:xfrm rot="0">
            <a:off x="274320" y="3227832"/>
            <a:ext cx="6903720" cy="301751"/>
          </a:xfrm>
          <a:prstGeom prst="rect"/>
          <a:solidFill>
            <a:srgbClr val="F2F4F7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18" name="矩形"/>
          <p:cNvSpPr>
            <a:spLocks/>
          </p:cNvSpPr>
          <p:nvPr/>
        </p:nvSpPr>
        <p:spPr>
          <a:xfrm rot="0">
            <a:off x="320040" y="327355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OJT Bulan 3 - Praktik Penuh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9" name="矩形"/>
          <p:cNvSpPr>
            <a:spLocks/>
          </p:cNvSpPr>
          <p:nvPr/>
        </p:nvSpPr>
        <p:spPr>
          <a:xfrm rot="0">
            <a:off x="2423160" y="327355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Mgg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0" name="圆角矩形"/>
          <p:cNvSpPr>
            <a:spLocks/>
          </p:cNvSpPr>
          <p:nvPr/>
        </p:nvSpPr>
        <p:spPr>
          <a:xfrm rot="0">
            <a:off x="5696712" y="3282696"/>
            <a:ext cx="1472184" cy="192024"/>
          </a:xfrm>
          <a:prstGeom prst="roundRect">
            <a:avLst>
              <a:gd name="adj" fmla="val 14287"/>
            </a:avLst>
          </a:prstGeom>
          <a:solidFill>
            <a:srgbClr val="E67E22"/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sp>
        <p:nvSpPr>
          <p:cNvPr id="521" name="矩形"/>
          <p:cNvSpPr>
            <a:spLocks/>
          </p:cNvSpPr>
          <p:nvPr/>
        </p:nvSpPr>
        <p:spPr>
          <a:xfrm rot="0">
            <a:off x="274320" y="3547872"/>
            <a:ext cx="6903720" cy="301751"/>
          </a:xfrm>
          <a:prstGeom prst="rect"/>
          <a:solidFill>
            <a:srgbClr val="FFFFFF"/>
          </a:solidFill>
          <a:ln w="381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22" name="矩形"/>
          <p:cNvSpPr>
            <a:spLocks/>
          </p:cNvSpPr>
          <p:nvPr/>
        </p:nvSpPr>
        <p:spPr>
          <a:xfrm rot="0">
            <a:off x="320040" y="3593592"/>
            <a:ext cx="210312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Evaluasi Akhir &amp; Keputusan Status</a:t>
            </a:r>
            <a:endParaRPr lang="zh-CN" altLang="en-US" sz="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3" name="矩形"/>
          <p:cNvSpPr>
            <a:spLocks/>
          </p:cNvSpPr>
          <p:nvPr/>
        </p:nvSpPr>
        <p:spPr>
          <a:xfrm rot="0">
            <a:off x="2423160" y="3593592"/>
            <a:ext cx="45719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0" i="0" u="none" strike="noStrike" kern="1200" cap="none" spc="0" baseline="0">
                <a:solidFill>
                  <a:srgbClr val="4A4A6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Hari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4" name="圆角矩形"/>
          <p:cNvSpPr>
            <a:spLocks/>
          </p:cNvSpPr>
          <p:nvPr/>
        </p:nvSpPr>
        <p:spPr>
          <a:xfrm rot="0">
            <a:off x="6821424" y="3602736"/>
            <a:ext cx="347471" cy="192024"/>
          </a:xfrm>
          <a:prstGeom prst="roundRect">
            <a:avLst>
              <a:gd name="adj" fmla="val 14287"/>
            </a:avLst>
          </a:prstGeom>
          <a:solidFill>
            <a:srgbClr val="9B59B6"/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sp>
        <p:nvSpPr>
          <p:cNvPr id="525" name="矩形"/>
          <p:cNvSpPr>
            <a:spLocks/>
          </p:cNvSpPr>
          <p:nvPr/>
        </p:nvSpPr>
        <p:spPr>
          <a:xfrm rot="0">
            <a:off x="7315200" y="1024127"/>
            <a:ext cx="155448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BUDGET ONBOARDING (per Batch)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6" name="矩形"/>
          <p:cNvSpPr>
            <a:spLocks/>
          </p:cNvSpPr>
          <p:nvPr/>
        </p:nvSpPr>
        <p:spPr>
          <a:xfrm rot="0">
            <a:off x="7223760" y="1481328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Konsumsi In Class (2 hari)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7" name="圆角矩形"/>
          <p:cNvSpPr>
            <a:spLocks/>
          </p:cNvSpPr>
          <p:nvPr/>
        </p:nvSpPr>
        <p:spPr>
          <a:xfrm rot="0">
            <a:off x="7223760" y="1728215"/>
            <a:ext cx="1234440" cy="128015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28" name="圆角矩形"/>
          <p:cNvSpPr>
            <a:spLocks/>
          </p:cNvSpPr>
          <p:nvPr/>
        </p:nvSpPr>
        <p:spPr>
          <a:xfrm rot="0">
            <a:off x="7223760" y="1728215"/>
            <a:ext cx="308610" cy="128015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29" name="矩形"/>
          <p:cNvSpPr>
            <a:spLocks/>
          </p:cNvSpPr>
          <p:nvPr/>
        </p:nvSpPr>
        <p:spPr>
          <a:xfrm rot="0">
            <a:off x="8485632" y="1673352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550.000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0" name="矩形"/>
          <p:cNvSpPr>
            <a:spLocks/>
          </p:cNvSpPr>
          <p:nvPr/>
        </p:nvSpPr>
        <p:spPr>
          <a:xfrm rot="0">
            <a:off x="7223760" y="1975103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Modul &amp; ATK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1" name="圆角矩形"/>
          <p:cNvSpPr>
            <a:spLocks/>
          </p:cNvSpPr>
          <p:nvPr/>
        </p:nvSpPr>
        <p:spPr>
          <a:xfrm rot="0">
            <a:off x="7223760" y="2221992"/>
            <a:ext cx="1234440" cy="128015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32" name="圆角矩形"/>
          <p:cNvSpPr>
            <a:spLocks/>
          </p:cNvSpPr>
          <p:nvPr/>
        </p:nvSpPr>
        <p:spPr>
          <a:xfrm rot="0">
            <a:off x="7223760" y="2221992"/>
            <a:ext cx="185166" cy="128015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33" name="矩形"/>
          <p:cNvSpPr>
            <a:spLocks/>
          </p:cNvSpPr>
          <p:nvPr/>
        </p:nvSpPr>
        <p:spPr>
          <a:xfrm rot="0">
            <a:off x="8485632" y="2167128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330.000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4" name="矩形"/>
          <p:cNvSpPr>
            <a:spLocks/>
          </p:cNvSpPr>
          <p:nvPr/>
        </p:nvSpPr>
        <p:spPr>
          <a:xfrm rot="0">
            <a:off x="7223760" y="2468880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Seragam Kerja Baru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5" name="圆角矩形"/>
          <p:cNvSpPr>
            <a:spLocks/>
          </p:cNvSpPr>
          <p:nvPr/>
        </p:nvSpPr>
        <p:spPr>
          <a:xfrm rot="0">
            <a:off x="7223760" y="2715768"/>
            <a:ext cx="1234440" cy="128016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36" name="圆角矩形"/>
          <p:cNvSpPr>
            <a:spLocks/>
          </p:cNvSpPr>
          <p:nvPr/>
        </p:nvSpPr>
        <p:spPr>
          <a:xfrm rot="0">
            <a:off x="7223760" y="2715768"/>
            <a:ext cx="1234440" cy="128016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37" name="矩形"/>
          <p:cNvSpPr>
            <a:spLocks/>
          </p:cNvSpPr>
          <p:nvPr/>
        </p:nvSpPr>
        <p:spPr>
          <a:xfrm rot="0">
            <a:off x="8485632" y="2660904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2.200.000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8" name="矩形"/>
          <p:cNvSpPr>
            <a:spLocks/>
          </p:cNvSpPr>
          <p:nvPr/>
        </p:nvSpPr>
        <p:spPr>
          <a:xfrm rot="0">
            <a:off x="7223760" y="2962656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APD Crew Kitchen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9" name="圆角矩形"/>
          <p:cNvSpPr>
            <a:spLocks/>
          </p:cNvSpPr>
          <p:nvPr/>
        </p:nvSpPr>
        <p:spPr>
          <a:xfrm rot="0">
            <a:off x="7223760" y="3209543"/>
            <a:ext cx="1234440" cy="128016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40" name="圆角矩形"/>
          <p:cNvSpPr>
            <a:spLocks/>
          </p:cNvSpPr>
          <p:nvPr/>
        </p:nvSpPr>
        <p:spPr>
          <a:xfrm rot="0">
            <a:off x="7223760" y="3209543"/>
            <a:ext cx="504998" cy="128016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41" name="矩形"/>
          <p:cNvSpPr>
            <a:spLocks/>
          </p:cNvSpPr>
          <p:nvPr/>
        </p:nvSpPr>
        <p:spPr>
          <a:xfrm rot="0">
            <a:off x="8485632" y="3154680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900.000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2" name="矩形"/>
          <p:cNvSpPr>
            <a:spLocks/>
          </p:cNvSpPr>
          <p:nvPr/>
        </p:nvSpPr>
        <p:spPr>
          <a:xfrm rot="0">
            <a:off x="7223760" y="3456431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ID Card &amp; Name Tag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3" name="圆角矩形"/>
          <p:cNvSpPr>
            <a:spLocks/>
          </p:cNvSpPr>
          <p:nvPr/>
        </p:nvSpPr>
        <p:spPr>
          <a:xfrm rot="0">
            <a:off x="7223760" y="3703319"/>
            <a:ext cx="1234440" cy="128016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44" name="圆角矩形"/>
          <p:cNvSpPr>
            <a:spLocks/>
          </p:cNvSpPr>
          <p:nvPr/>
        </p:nvSpPr>
        <p:spPr>
          <a:xfrm rot="0">
            <a:off x="7223760" y="3703319"/>
            <a:ext cx="154305" cy="128016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45" name="矩形"/>
          <p:cNvSpPr>
            <a:spLocks/>
          </p:cNvSpPr>
          <p:nvPr/>
        </p:nvSpPr>
        <p:spPr>
          <a:xfrm rot="0">
            <a:off x="8485632" y="3648456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275.000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6" name="矩形"/>
          <p:cNvSpPr>
            <a:spLocks/>
          </p:cNvSpPr>
          <p:nvPr/>
        </p:nvSpPr>
        <p:spPr>
          <a:xfrm rot="0">
            <a:off x="7223760" y="3950207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Fee Trainer Internal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7" name="圆角矩形"/>
          <p:cNvSpPr>
            <a:spLocks/>
          </p:cNvSpPr>
          <p:nvPr/>
        </p:nvSpPr>
        <p:spPr>
          <a:xfrm rot="0">
            <a:off x="7223760" y="4197096"/>
            <a:ext cx="1234440" cy="128016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48" name="圆角矩形"/>
          <p:cNvSpPr>
            <a:spLocks/>
          </p:cNvSpPr>
          <p:nvPr/>
        </p:nvSpPr>
        <p:spPr>
          <a:xfrm rot="0">
            <a:off x="7223760" y="4197096"/>
            <a:ext cx="168333" cy="128016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49" name="矩形"/>
          <p:cNvSpPr>
            <a:spLocks/>
          </p:cNvSpPr>
          <p:nvPr/>
        </p:nvSpPr>
        <p:spPr>
          <a:xfrm rot="0">
            <a:off x="8485632" y="4142232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300.000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0" name="矩形"/>
          <p:cNvSpPr>
            <a:spLocks/>
          </p:cNvSpPr>
          <p:nvPr/>
        </p:nvSpPr>
        <p:spPr>
          <a:xfrm rot="0">
            <a:off x="7223760" y="4443984"/>
            <a:ext cx="16002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50" b="0" i="0" u="none" strike="noStrike" kern="1200" cap="none" spc="0" baseline="0">
                <a:solidFill>
                  <a:srgbClr val="1A1A2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Mentor Allowance OJT</a:t>
            </a:r>
            <a:endParaRPr lang="zh-CN" altLang="en-US" sz="7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1" name="圆角矩形"/>
          <p:cNvSpPr>
            <a:spLocks/>
          </p:cNvSpPr>
          <p:nvPr/>
        </p:nvSpPr>
        <p:spPr>
          <a:xfrm rot="0">
            <a:off x="7223760" y="4690872"/>
            <a:ext cx="1234440" cy="128016"/>
          </a:xfrm>
          <a:prstGeom prst="roundRect">
            <a:avLst>
              <a:gd name="adj" fmla="val 21430"/>
            </a:avLst>
          </a:prstGeom>
          <a:solidFill>
            <a:srgbClr val="E0E0EE"/>
          </a:solidFill>
          <a:ln w="12700" cmpd="sng" cap="flat">
            <a:solidFill>
              <a:srgbClr val="E0E0EE"/>
            </a:solidFill>
            <a:prstDash val="solid"/>
            <a:round/>
          </a:ln>
        </p:spPr>
      </p:sp>
      <p:sp>
        <p:nvSpPr>
          <p:cNvPr id="552" name="圆角矩形"/>
          <p:cNvSpPr>
            <a:spLocks/>
          </p:cNvSpPr>
          <p:nvPr/>
        </p:nvSpPr>
        <p:spPr>
          <a:xfrm rot="0">
            <a:off x="7223760" y="4690872"/>
            <a:ext cx="925829" cy="128016"/>
          </a:xfrm>
          <a:prstGeom prst="roundRect">
            <a:avLst>
              <a:gd name="adj" fmla="val 21430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53" name="矩形"/>
          <p:cNvSpPr>
            <a:spLocks/>
          </p:cNvSpPr>
          <p:nvPr/>
        </p:nvSpPr>
        <p:spPr>
          <a:xfrm rot="0">
            <a:off x="8485632" y="4636008"/>
            <a:ext cx="566927" cy="1828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700" b="1" i="0" u="none" strike="noStrike" kern="1200" cap="none" spc="0" baseline="0">
                <a:solidFill>
                  <a:srgbClr val="C0392B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1.650.000</a:t>
            </a:r>
            <a:endParaRPr lang="zh-CN" altLang="en-US" sz="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4" name="圆角矩形"/>
          <p:cNvSpPr>
            <a:spLocks/>
          </p:cNvSpPr>
          <p:nvPr/>
        </p:nvSpPr>
        <p:spPr>
          <a:xfrm rot="0">
            <a:off x="7223760" y="4709160"/>
            <a:ext cx="1600200" cy="292607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sp>
        <p:nvSpPr>
          <p:cNvPr id="555" name="矩形"/>
          <p:cNvSpPr>
            <a:spLocks/>
          </p:cNvSpPr>
          <p:nvPr/>
        </p:nvSpPr>
        <p:spPr>
          <a:xfrm rot="0">
            <a:off x="7223760" y="4709160"/>
            <a:ext cx="160020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TOTAL  Rp 6.205.000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63447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矩形"/>
          <p:cNvSpPr>
            <a:spLocks/>
          </p:cNvSpPr>
          <p:nvPr/>
        </p:nvSpPr>
        <p:spPr>
          <a:xfrm rot="0">
            <a:off x="0" y="0"/>
            <a:ext cx="9144000" cy="109728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  <p:sp>
        <p:nvSpPr>
          <p:cNvPr id="559" name="矩形"/>
          <p:cNvSpPr>
            <a:spLocks/>
          </p:cNvSpPr>
          <p:nvPr/>
        </p:nvSpPr>
        <p:spPr>
          <a:xfrm rot="0">
            <a:off x="0" y="109728"/>
            <a:ext cx="4114800" cy="5033772"/>
          </a:xfrm>
          <a:prstGeom prst="rect"/>
          <a:solidFill>
            <a:srgbClr val="C0392B">
              <a:alpha val="80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pic>
        <p:nvPicPr>
          <p:cNvPr id="560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48640" y="640080"/>
            <a:ext cx="914400" cy="91439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61" name="矩形"/>
          <p:cNvSpPr>
            <a:spLocks/>
          </p:cNvSpPr>
          <p:nvPr/>
        </p:nvSpPr>
        <p:spPr>
          <a:xfrm rot="0">
            <a:off x="457200" y="1691639"/>
            <a:ext cx="3383279" cy="1005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RINGKASAN</a:t>
            </a:r>
            <a:endParaRPr lang="en-US" altLang="zh-CN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EKSEKUTIF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2" name="矩形"/>
          <p:cNvSpPr>
            <a:spLocks/>
          </p:cNvSpPr>
          <p:nvPr/>
        </p:nvSpPr>
        <p:spPr>
          <a:xfrm rot="0">
            <a:off x="457200" y="2696337"/>
            <a:ext cx="3383279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Program MT + Onboarding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F39C1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PT Mie Pedas Raya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3" name="矩形"/>
          <p:cNvSpPr>
            <a:spLocks/>
          </p:cNvSpPr>
          <p:nvPr/>
        </p:nvSpPr>
        <p:spPr>
          <a:xfrm rot="0">
            <a:off x="457200" y="4572000"/>
            <a:ext cx="338327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Disusun oleh: </a:t>
            </a:r>
            <a:r>
              <a:rPr lang="en-US" altLang="zh-CN" sz="1000" b="1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Training &amp; Development Staff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4" name="圆角矩形"/>
          <p:cNvSpPr>
            <a:spLocks/>
          </p:cNvSpPr>
          <p:nvPr/>
        </p:nvSpPr>
        <p:spPr>
          <a:xfrm rot="0">
            <a:off x="4480560" y="594360"/>
            <a:ext cx="4297680" cy="749807"/>
          </a:xfrm>
          <a:prstGeom prst="roundRect">
            <a:avLst>
              <a:gd name="adj" fmla="val 9754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3498DB">
                <a:alpha val="70000"/>
              </a:srgbClr>
            </a:solidFill>
            <a:prstDash val="solid"/>
            <a:round/>
          </a:ln>
        </p:spPr>
      </p:sp>
      <p:sp>
        <p:nvSpPr>
          <p:cNvPr id="565" name="椭圆"/>
          <p:cNvSpPr>
            <a:spLocks/>
          </p:cNvSpPr>
          <p:nvPr/>
        </p:nvSpPr>
        <p:spPr>
          <a:xfrm rot="0">
            <a:off x="4617720" y="731520"/>
            <a:ext cx="475487" cy="475487"/>
          </a:xfrm>
          <a:prstGeom prst="ellipse"/>
          <a:solidFill>
            <a:srgbClr val="3498DB">
              <a:alpha val="85000"/>
            </a:srgbClr>
          </a:solidFill>
          <a:ln w="12700" cmpd="sng" cap="flat">
            <a:solidFill>
              <a:srgbClr val="3498DB"/>
            </a:solidFill>
            <a:prstDash val="solid"/>
            <a:round/>
          </a:ln>
        </p:spPr>
      </p:sp>
      <p:pic>
        <p:nvPicPr>
          <p:cNvPr id="566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663440" y="777240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67" name="矩形"/>
          <p:cNvSpPr>
            <a:spLocks/>
          </p:cNvSpPr>
          <p:nvPr/>
        </p:nvSpPr>
        <p:spPr>
          <a:xfrm rot="0">
            <a:off x="5212080" y="68580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 Peserta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8" name="矩形"/>
          <p:cNvSpPr>
            <a:spLocks/>
          </p:cNvSpPr>
          <p:nvPr/>
        </p:nvSpPr>
        <p:spPr>
          <a:xfrm rot="0">
            <a:off x="5212080" y="960120"/>
            <a:ext cx="3383279" cy="3108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Track Operasional — Asst. SPV, SPV, &amp; Manager Outlet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9" name="圆角矩形"/>
          <p:cNvSpPr>
            <a:spLocks/>
          </p:cNvSpPr>
          <p:nvPr/>
        </p:nvSpPr>
        <p:spPr>
          <a:xfrm rot="0">
            <a:off x="4480560" y="1508759"/>
            <a:ext cx="4297680" cy="749807"/>
          </a:xfrm>
          <a:prstGeom prst="roundRect">
            <a:avLst>
              <a:gd name="adj" fmla="val 9754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C0392B">
                <a:alpha val="70000"/>
              </a:srgbClr>
            </a:solidFill>
            <a:prstDash val="solid"/>
            <a:round/>
          </a:ln>
        </p:spPr>
      </p:sp>
      <p:sp>
        <p:nvSpPr>
          <p:cNvPr id="570" name="椭圆"/>
          <p:cNvSpPr>
            <a:spLocks/>
          </p:cNvSpPr>
          <p:nvPr/>
        </p:nvSpPr>
        <p:spPr>
          <a:xfrm rot="0">
            <a:off x="4617720" y="1645920"/>
            <a:ext cx="475487" cy="475488"/>
          </a:xfrm>
          <a:prstGeom prst="ellipse"/>
          <a:solidFill>
            <a:srgbClr val="C0392B">
              <a:alpha val="85000"/>
            </a:srgbClr>
          </a:solidFill>
          <a:ln w="12700" cmpd="sng" cap="flat">
            <a:solidFill>
              <a:srgbClr val="C0392B"/>
            </a:solidFill>
            <a:prstDash val="solid"/>
            <a:round/>
          </a:ln>
        </p:spPr>
      </p:sp>
      <p:pic>
        <p:nvPicPr>
          <p:cNvPr id="571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4663440" y="1691639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72" name="矩形"/>
          <p:cNvSpPr>
            <a:spLocks/>
          </p:cNvSpPr>
          <p:nvPr/>
        </p:nvSpPr>
        <p:spPr>
          <a:xfrm rot="0">
            <a:off x="5212080" y="160020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12 Bulan Program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3" name="矩形"/>
          <p:cNvSpPr>
            <a:spLocks/>
          </p:cNvSpPr>
          <p:nvPr/>
        </p:nvSpPr>
        <p:spPr>
          <a:xfrm rot="0">
            <a:off x="5212080" y="1874520"/>
            <a:ext cx="3383279" cy="3108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→ OJT → Rotasi → Comprehension → Penempatan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4" name="圆角矩形"/>
          <p:cNvSpPr>
            <a:spLocks/>
          </p:cNvSpPr>
          <p:nvPr/>
        </p:nvSpPr>
        <p:spPr>
          <a:xfrm rot="0">
            <a:off x="4480560" y="2423160"/>
            <a:ext cx="4297680" cy="749808"/>
          </a:xfrm>
          <a:prstGeom prst="roundRect">
            <a:avLst>
              <a:gd name="adj" fmla="val 9754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27AE60">
                <a:alpha val="70000"/>
              </a:srgbClr>
            </a:solidFill>
            <a:prstDash val="solid"/>
            <a:round/>
          </a:ln>
        </p:spPr>
      </p:sp>
      <p:sp>
        <p:nvSpPr>
          <p:cNvPr id="575" name="椭圆"/>
          <p:cNvSpPr>
            <a:spLocks/>
          </p:cNvSpPr>
          <p:nvPr/>
        </p:nvSpPr>
        <p:spPr>
          <a:xfrm rot="0">
            <a:off x="4617720" y="2560320"/>
            <a:ext cx="475487" cy="475487"/>
          </a:xfrm>
          <a:prstGeom prst="ellipse"/>
          <a:solidFill>
            <a:srgbClr val="27AE60">
              <a:alpha val="85000"/>
            </a:srgbClr>
          </a:solidFill>
          <a:ln w="12700" cmpd="sng" cap="flat">
            <a:solidFill>
              <a:srgbClr val="27AE60"/>
            </a:solidFill>
            <a:prstDash val="solid"/>
            <a:round/>
          </a:ln>
        </p:spPr>
      </p:sp>
      <p:pic>
        <p:nvPicPr>
          <p:cNvPr id="576" name="图片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4663440" y="2606040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77" name="矩形"/>
          <p:cNvSpPr>
            <a:spLocks/>
          </p:cNvSpPr>
          <p:nvPr/>
        </p:nvSpPr>
        <p:spPr>
          <a:xfrm rot="0">
            <a:off x="5212080" y="251460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16.855.000 Budget MT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8" name="矩形"/>
          <p:cNvSpPr>
            <a:spLocks/>
          </p:cNvSpPr>
          <p:nvPr/>
        </p:nvSpPr>
        <p:spPr>
          <a:xfrm rot="0">
            <a:off x="5212080" y="2788920"/>
            <a:ext cx="3383279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Facilities, In Class, OJT, dan Comprehension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9" name="圆角矩形"/>
          <p:cNvSpPr>
            <a:spLocks/>
          </p:cNvSpPr>
          <p:nvPr/>
        </p:nvSpPr>
        <p:spPr>
          <a:xfrm rot="0">
            <a:off x="4480560" y="3337560"/>
            <a:ext cx="4297680" cy="749807"/>
          </a:xfrm>
          <a:prstGeom prst="roundRect">
            <a:avLst>
              <a:gd name="adj" fmla="val 9754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E67E22">
                <a:alpha val="70000"/>
              </a:srgbClr>
            </a:solidFill>
            <a:prstDash val="solid"/>
            <a:round/>
          </a:ln>
        </p:spPr>
      </p:sp>
      <p:sp>
        <p:nvSpPr>
          <p:cNvPr id="580" name="椭圆"/>
          <p:cNvSpPr>
            <a:spLocks/>
          </p:cNvSpPr>
          <p:nvPr/>
        </p:nvSpPr>
        <p:spPr>
          <a:xfrm rot="0">
            <a:off x="4617720" y="3474720"/>
            <a:ext cx="475487" cy="475487"/>
          </a:xfrm>
          <a:prstGeom prst="ellipse"/>
          <a:solidFill>
            <a:srgbClr val="E67E22">
              <a:alpha val="85000"/>
            </a:srgbClr>
          </a:solidFill>
          <a:ln w="12700" cmpd="sng" cap="flat">
            <a:solidFill>
              <a:srgbClr val="E67E22"/>
            </a:solidFill>
            <a:prstDash val="solid"/>
            <a:round/>
          </a:ln>
        </p:spPr>
      </p:sp>
      <p:pic>
        <p:nvPicPr>
          <p:cNvPr id="581" name="图片" descr="preencode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4663440" y="3520440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82" name="矩形"/>
          <p:cNvSpPr>
            <a:spLocks/>
          </p:cNvSpPr>
          <p:nvPr/>
        </p:nvSpPr>
        <p:spPr>
          <a:xfrm rot="0">
            <a:off x="5212080" y="342900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 Bulan Onboarding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3" name="矩形"/>
          <p:cNvSpPr>
            <a:spLocks/>
          </p:cNvSpPr>
          <p:nvPr/>
        </p:nvSpPr>
        <p:spPr>
          <a:xfrm rot="0">
            <a:off x="5212080" y="3703319"/>
            <a:ext cx="3383279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 Class 2 hari + OJT probation 3 bulan (buddy system)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4" name="圆角矩形"/>
          <p:cNvSpPr>
            <a:spLocks/>
          </p:cNvSpPr>
          <p:nvPr/>
        </p:nvSpPr>
        <p:spPr>
          <a:xfrm rot="0">
            <a:off x="4480560" y="4251960"/>
            <a:ext cx="4297680" cy="749807"/>
          </a:xfrm>
          <a:prstGeom prst="roundRect">
            <a:avLst>
              <a:gd name="adj" fmla="val 9754"/>
            </a:avLst>
          </a:prstGeom>
          <a:solidFill>
            <a:srgbClr val="FFFFFF">
              <a:alpha val="7000"/>
            </a:srgbClr>
          </a:solidFill>
          <a:ln w="12700" cmpd="sng" cap="flat">
            <a:solidFill>
              <a:srgbClr val="9B59B6">
                <a:alpha val="70000"/>
              </a:srgbClr>
            </a:solidFill>
            <a:prstDash val="solid"/>
            <a:round/>
          </a:ln>
        </p:spPr>
      </p:sp>
      <p:sp>
        <p:nvSpPr>
          <p:cNvPr id="585" name="椭圆"/>
          <p:cNvSpPr>
            <a:spLocks/>
          </p:cNvSpPr>
          <p:nvPr/>
        </p:nvSpPr>
        <p:spPr>
          <a:xfrm rot="0">
            <a:off x="4617720" y="4389120"/>
            <a:ext cx="475487" cy="475487"/>
          </a:xfrm>
          <a:prstGeom prst="ellipse"/>
          <a:solidFill>
            <a:srgbClr val="9B59B6">
              <a:alpha val="85000"/>
            </a:srgbClr>
          </a:solidFill>
          <a:ln w="12700" cmpd="sng" cap="flat">
            <a:solidFill>
              <a:srgbClr val="9B59B6"/>
            </a:solidFill>
            <a:prstDash val="solid"/>
            <a:round/>
          </a:ln>
        </p:spPr>
      </p:sp>
      <p:pic>
        <p:nvPicPr>
          <p:cNvPr id="586" name="图片" descr="preencoded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4663440" y="4434840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87" name="矩形"/>
          <p:cNvSpPr>
            <a:spLocks/>
          </p:cNvSpPr>
          <p:nvPr/>
        </p:nvSpPr>
        <p:spPr>
          <a:xfrm rot="0">
            <a:off x="5212080" y="4343400"/>
            <a:ext cx="33832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Rp 6.205.000 Budget Onboarding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8" name="矩形"/>
          <p:cNvSpPr>
            <a:spLocks/>
          </p:cNvSpPr>
          <p:nvPr/>
        </p:nvSpPr>
        <p:spPr>
          <a:xfrm rot="0">
            <a:off x="5212080" y="4617720"/>
            <a:ext cx="3383279" cy="3108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AABCD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Per batch 11 karyawan baru (outlet ekspansi)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9" name="矩形"/>
          <p:cNvSpPr>
            <a:spLocks/>
          </p:cNvSpPr>
          <p:nvPr/>
        </p:nvSpPr>
        <p:spPr>
          <a:xfrm rot="0">
            <a:off x="0" y="5038344"/>
            <a:ext cx="9144000" cy="105155"/>
          </a:xfrm>
          <a:prstGeom prst="rect"/>
          <a:solidFill>
            <a:srgbClr val="F39C12"/>
          </a:solidFill>
          <a:ln w="12700" cmpd="sng" cap="flat">
            <a:solidFill>
              <a:srgbClr val="F39C12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118381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Program MT &amp; Onboarding - PT Mie Pedas Raya</dc:title>
  <dc:subject>PptxGenJS Presentation</dc:subject>
  <dc:creator>PptxGenJS</dc:creator>
  <cp:lastModifiedBy>root</cp:lastModifiedBy>
  <cp:revision>1</cp:revision>
  <dcterms:created xsi:type="dcterms:W3CDTF">2026-06-16T23:10:12Z</dcterms:created>
  <dcterms:modified xsi:type="dcterms:W3CDTF">2026-06-16T22:17:44Z</dcterms:modified>
</cp:coreProperties>
</file>