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-316" y="-7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Labor Cost (Juta Rp)</c:v>
                </c:pt>
              </c:strCache>
            </c:strRef>
          </c:tx>
          <c:spPr>
            <a:solidFill>
              <a:srgbClr val="1A2B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Q1 Jan–Mar</c:v>
                </c:pt>
                <c:pt idx="1">
                  <c:v>Q2 Apr–Jun</c:v>
                </c:pt>
                <c:pt idx="2">
                  <c:v>Q3 Jul–Sep</c:v>
                </c:pt>
                <c:pt idx="3">
                  <c:v>Q4 Okt–Des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165</c:v>
                </c:pt>
                <c:pt idx="1">
                  <c:v>213</c:v>
                </c:pt>
                <c:pt idx="2">
                  <c:v>243</c:v>
                </c:pt>
                <c:pt idx="3">
                  <c:v>258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Batas Maksimal (Rp 300 Jt)</c:v>
                </c:pt>
              </c:strCache>
            </c:strRef>
          </c:tx>
          <c:spPr>
            <a:solidFill>
              <a:srgbClr val="E2C96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Q1 Jan–Mar</c:v>
                </c:pt>
                <c:pt idx="1">
                  <c:v>Q2 Apr–Jun</c:v>
                </c:pt>
                <c:pt idx="2">
                  <c:v>Q3 Jul–Sep</c:v>
                </c:pt>
                <c:pt idx="3">
                  <c:v>Q4 Okt–Des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300</c:v>
                </c:pt>
                <c:pt idx="1">
                  <c:v>300</c:v>
                </c:pt>
                <c:pt idx="2">
                  <c:v>300</c:v>
                </c:pt>
                <c:pt idx="3">
                  <c:v>300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1733632"/>
        <c:axId val="201735168"/>
      </c:barChart>
      <c:catAx>
        <c:axId val="2017336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1735168"/>
        <c:crosses val="autoZero"/>
        <c:auto val="1"/>
        <c:lblAlgn val="ctr"/>
        <c:lblOffset val="100"/>
        <c:noMultiLvlLbl val="1"/>
      </c:catAx>
      <c:valAx>
        <c:axId val="201735168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1733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1216A-2E1E-40B0-8BDD-7677F3AEF275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A5B568-D66B-4D4D-9522-59DB4EF62C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023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097280"/>
            <a:ext cx="3200400" cy="32004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640080"/>
            <a:ext cx="2286000" cy="2286000"/>
          </a:xfrm>
          <a:prstGeom prst="ellipse">
            <a:avLst/>
          </a:prstGeom>
          <a:solidFill>
            <a:srgbClr val="203370"/>
          </a:solidFill>
          <a:ln w="12700">
            <a:solidFill>
              <a:srgbClr val="20337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6774" y="10822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LEMONSQUEEZE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Manpower Planning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4864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Workforce Strategy 2026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41148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383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Disusun oleh: Juan Fakhri  |  </a:t>
            </a:r>
            <a:r>
              <a:rPr lang="id-ID" sz="1100" dirty="0" smtClean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r>
              <a:rPr lang="en-US" sz="1100" dirty="0" smtClean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220063  |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PERUSAHAAN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Mengenal Lemonsqueeze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agency yang mendorong pertumbuhan brand di era digital.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64748B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651760" cy="457200"/>
          </a:xfrm>
          <a:prstGeom prst="rect">
            <a:avLst/>
          </a:prstGeom>
          <a:solidFill>
            <a:srgbClr val="1A2B5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928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89280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75488" y="2377440"/>
            <a:ext cx="24688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Marketing Agency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828800"/>
            <a:ext cx="2651760" cy="457200"/>
          </a:xfrm>
          <a:prstGeom prst="rect">
            <a:avLst/>
          </a:prstGeom>
          <a:solidFill>
            <a:srgbClr val="1A2B5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8928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94760" y="189280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Saat Ini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401568" y="2377440"/>
            <a:ext cx="24688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Karyawan (Existing)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64748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solidFill>
            <a:srgbClr val="1A2B5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92808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89280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Revenue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327648" y="2377440"/>
            <a:ext cx="2468880" cy="12801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1 Miliar / Bulan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65760" y="3886200"/>
            <a:ext cx="8412480" cy="868680"/>
          </a:xfrm>
          <a:prstGeom prst="rect">
            <a:avLst/>
          </a:prstGeom>
          <a:solidFill>
            <a:srgbClr val="1A2B5C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93192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Visi: Menjadi digital agency terpercaya yang membantu brand Indonesia tumbuh secara sistematis dan berkelanjutan melalui strategi berbasis data.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BISNIS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Portofolio Layanan Lemonsqueeze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727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&amp; Konten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1984248"/>
            <a:ext cx="2606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konten visual, caption, strategi posting, dan analisis engagement di seluruh platform digital klien.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6304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5727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13048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Management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01568" y="1984248"/>
            <a:ext cx="2606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toko online di Shopee, Tokopedia, Lazada &amp; TikTok Shop dengan optimasi listing dan kampanye iklan.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63640" y="146304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63640" y="146304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5727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4848" y="15544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73368" y="1984248"/>
            <a:ext cx="2606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strategi digital end-to-end: dari kampanye berbayar hingga pelaporan kinerja berbasis data.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10896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20040" y="310896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21868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1248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29768" y="3630168"/>
            <a:ext cx="2606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Pembuatan landing page dan microsite klien yang terintegrasi dengan ekosistem digital marketing.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91840" y="3108960"/>
            <a:ext cx="2788920" cy="1463040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91840" y="310896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21868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13048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401568" y="3630168"/>
            <a:ext cx="2606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Akuisisi klien baru secara sistematis melalui pipeline penjualan terstruktur dan tim sales berdedikasi.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263640" y="3108960"/>
            <a:ext cx="2788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63640" y="3108960"/>
            <a:ext cx="54864" cy="1463040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218688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84848" y="32004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373368" y="3630168"/>
            <a:ext cx="260604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hubungan klien jangka panjang untuk menjaga kepuasan, retensi, dan peluang upsell.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&amp; POSISI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Posisi Target Akhir 2026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7 existing menjadi 15 headcount – pertumbuhan 114%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64592" cy="16459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627632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480560" y="1627632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600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301752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91109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9110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9110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191109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191109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Budget/Bln (Rp jt)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176272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18541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91840" y="218541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21854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0" y="218541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32320" y="218541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377440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38658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Marketing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238658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23865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943600" y="238658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32320" y="23865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2578608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58775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2587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5877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943600" y="25877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132320" y="25877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2779776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278892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291840" y="2788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754880" y="27889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0" y="278892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132320" y="2788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2980944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299008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Designer (×2)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291840" y="2990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0" y="299008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43600" y="299008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32320" y="29900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3182112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319125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Specialist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291840" y="319125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54880" y="31912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943600" y="31912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132320" y="3191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" y="3383280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339242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Dev. Manager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291840" y="33924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Dev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754880" y="33924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943600" y="339242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132320" y="33924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0040" y="3584448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1" name="Text 59"/>
          <p:cNvSpPr/>
          <p:nvPr/>
        </p:nvSpPr>
        <p:spPr>
          <a:xfrm>
            <a:off x="365760" y="35935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 (×2)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291840" y="359359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 Dev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754880" y="35935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943600" y="35935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7132320" y="359359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320040" y="3785616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37947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291840" y="3794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4754880" y="37947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943600" y="37947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132320" y="37947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0040" y="3986784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99592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3291840" y="39959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754880" y="39959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5943600" y="39959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7132320" y="3995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20040" y="4187952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4197096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Specialist (×2)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291840" y="41970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4754880" y="41970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5943600" y="41970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132320" y="419709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320040" y="4389120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5" name="Text 83"/>
          <p:cNvSpPr/>
          <p:nvPr/>
        </p:nvSpPr>
        <p:spPr>
          <a:xfrm>
            <a:off x="365760" y="4398264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Analyst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3291840" y="439826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4754880" y="4398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5943600" y="4398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7132320" y="439826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320040" y="4590288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365760" y="459943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Editor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3291840" y="45994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4754880" y="4599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943600" y="459943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7132320" y="45994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320040" y="4791456"/>
            <a:ext cx="8503920" cy="20116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7" name="Text 95"/>
          <p:cNvSpPr/>
          <p:nvPr/>
        </p:nvSpPr>
        <p:spPr>
          <a:xfrm>
            <a:off x="365760" y="480060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3291840" y="48006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4754880" y="4800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00" name="Text 98"/>
          <p:cNvSpPr/>
          <p:nvPr/>
        </p:nvSpPr>
        <p:spPr>
          <a:xfrm>
            <a:off x="5943600" y="480060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132320" y="4800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320040" y="4992624"/>
            <a:ext cx="8503920" cy="2011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3" name="Text 101"/>
          <p:cNvSpPr/>
          <p:nvPr/>
        </p:nvSpPr>
        <p:spPr>
          <a:xfrm>
            <a:off x="365760" y="5001768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Officer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3291840" y="50017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4754880" y="50017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5943600" y="500176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7132320" y="50017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320040" y="5193792"/>
            <a:ext cx="8503920" cy="237744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109" name="Text 107"/>
          <p:cNvSpPr/>
          <p:nvPr/>
        </p:nvSpPr>
        <p:spPr>
          <a:xfrm>
            <a:off x="365760" y="5230368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 / BULAN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6995160" y="52303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188 Juta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REKRUTMEN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Rencana Penambahan SDM per Kuartal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057400" cy="333756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057400" cy="5486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14813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Mar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08483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165 Juta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5877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16.5% dari target revenue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posisi: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063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Dev. Manager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 (×1)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703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Writer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32888" y="1417320"/>
            <a:ext cx="2057400" cy="333756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32888" y="1417320"/>
            <a:ext cx="2057400" cy="54864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0" name="Text 18"/>
          <p:cNvSpPr/>
          <p:nvPr/>
        </p:nvSpPr>
        <p:spPr>
          <a:xfrm>
            <a:off x="2642616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081528" y="14813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Jun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081528" y="17099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HC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624328" y="208483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0048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670048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213 Juta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24328" y="25877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 dari target revenue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24328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posisi: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24328" y="3063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Specialist (×1)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24328" y="3383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Analyst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624328" y="3703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Editor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624328" y="4023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45736" y="1417320"/>
            <a:ext cx="2057400" cy="333756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45736" y="1417320"/>
            <a:ext cx="2057400" cy="548640"/>
          </a:xfrm>
          <a:prstGeom prst="rect">
            <a:avLst/>
          </a:prstGeom>
          <a:solidFill>
            <a:srgbClr val="7D6608"/>
          </a:solidFill>
          <a:ln/>
        </p:spPr>
      </p:sp>
      <p:sp>
        <p:nvSpPr>
          <p:cNvPr id="34" name="Text 32"/>
          <p:cNvSpPr/>
          <p:nvPr/>
        </p:nvSpPr>
        <p:spPr>
          <a:xfrm>
            <a:off x="4855464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5294376" y="14813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Sep 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294376" y="17099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HC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37176" y="208483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82896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243 Juta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37176" y="25877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24.3% dari target revenue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37176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posisi: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37176" y="3063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37176" y="33832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 (×2)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37176" y="3703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Officer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958584" y="1417320"/>
            <a:ext cx="2057400" cy="3337560"/>
          </a:xfrm>
          <a:prstGeom prst="rect">
            <a:avLst/>
          </a:prstGeom>
          <a:solidFill>
            <a:srgbClr val="F4F6FB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958584" y="1417320"/>
            <a:ext cx="2057400" cy="548640"/>
          </a:xfrm>
          <a:prstGeom prst="rect">
            <a:avLst/>
          </a:prstGeom>
          <a:solidFill>
            <a:srgbClr val="6E2F0A"/>
          </a:solidFill>
          <a:ln/>
        </p:spPr>
      </p:sp>
      <p:sp>
        <p:nvSpPr>
          <p:cNvPr id="47" name="Text 45"/>
          <p:cNvSpPr/>
          <p:nvPr/>
        </p:nvSpPr>
        <p:spPr>
          <a:xfrm>
            <a:off x="7068312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7507224" y="14813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– Des 2026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07224" y="17099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HC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50024" y="208483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95744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95744" y="230428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 258 Juta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050024" y="25877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25.8% dari target revenue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050024" y="283464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posisi: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050024" y="30632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2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Specialist (×2)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20040" y="4773168"/>
            <a:ext cx="8503920" cy="22860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80060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New Hires 2026: 8 posisi baru  |  Total HC Akhir Tahun: 15 karyawan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2B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ANGGARAN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Proyeksi Labor Cost vs Target Revenue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0116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1554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Revenue/Bln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4048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1 Miliar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84048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akhir 2026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450592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50592" y="1417320"/>
            <a:ext cx="2011680" cy="731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5544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53512" y="1554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Labor Cost (30%)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2560320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300 Juta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560320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Arahan CEO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626864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26864" y="1417320"/>
            <a:ext cx="20116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5"/>
          <p:cNvSpPr/>
          <p:nvPr/>
        </p:nvSpPr>
        <p:spPr>
          <a:xfrm>
            <a:off x="5129784" y="1554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Cost Q4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736592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258 Juta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736592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HC – dalam batas aman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803136" y="141732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803136" y="1417320"/>
            <a:ext cx="2011680" cy="73152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55448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06056" y="155448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Anggaran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912864" y="1965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Rp 42 Juta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912864" y="2468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di bawah batas atas</a:t>
            </a:r>
            <a:endParaRPr lang="en-US" sz="8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274320" y="2926080"/>
          <a:ext cx="859536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Kesimpulan &amp; Rekomendasi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657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2344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Pertumbuhan Terstruktur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" y="14904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bertumbuh dari 7 → 15 dalam setahun; 8 posisi baru diprioritaskan berdasarkan dampak bisnis.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9659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Anggaran Terkendali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222199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labor cost Q4 sebesar Rp 258 Jt (25,8%), masih dalam batas 30% dengan buffer Rp 42 Jt.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54864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974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Fokus Revenue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953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Penambahan BD Manager &amp; Sales Executive di Q1 untuk membuka pasar baru dan capai target Rp 1 M/bulan.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4864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34290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Diversifikasi Layanan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685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Masuknya Marketplace Specialist &amp; E-commerce Analyst di Q2 memperkuat lini bisnis e-commerce sebagai revenue baru.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4864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1605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Retensi Klien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441655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Manager &amp; Customer Success Officer di Q2–Q3 menekan risiko churn dan membebaskan CEO dari operasional.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C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Lemonsqueeze  |  Manpower Planning 2026  |  Disusun oleh: Juan Fakhri (220063)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665</Words>
  <Application>Microsoft Office PowerPoint</Application>
  <PresentationFormat>On-screen Show (16:9)</PresentationFormat>
  <Paragraphs>191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Manpower Planning – Lemonsqueeze 2026</dc:title>
  <dc:subject>PptxGenJS Presentation</dc:subject>
  <dc:creator>PptxGenJS</dc:creator>
  <cp:lastModifiedBy>ASUS</cp:lastModifiedBy>
  <cp:revision>2</cp:revision>
  <dcterms:created xsi:type="dcterms:W3CDTF">2026-05-17T08:10:27Z</dcterms:created>
  <dcterms:modified xsi:type="dcterms:W3CDTF">2026-05-17T08:18:08Z</dcterms:modified>
</cp:coreProperties>
</file>